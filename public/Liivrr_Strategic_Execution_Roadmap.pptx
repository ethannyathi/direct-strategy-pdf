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A24"/>
        </a:solidFill>
      </p:bgPr>
    </p:bg>
    <p:spTree>
      <p:nvGrpSpPr>
        <p:cNvPr id="1" name=""/>
        <p:cNvGrpSpPr/>
        <p:nvPr/>
      </p:nvGrpSpPr>
      <p:grpSpPr>
        <a:xfrm>
          <a:off x="0" y="0"/>
          <a:ext cx="0" cy="0"/>
          <a:chOff x="0" y="0"/>
          <a:chExt cx="0" cy="0"/>
        </a:xfrm>
      </p:grpSpPr>
      <p:sp>
        <p:nvSpPr>
          <p:cNvPr id="2" name="Shape 0"/>
          <p:cNvSpPr/>
          <p:nvPr/>
        </p:nvSpPr>
        <p:spPr>
          <a:xfrm>
            <a:off x="457200" y="320040"/>
            <a:ext cx="292608" cy="292608"/>
          </a:xfrm>
          <a:prstGeom prst="rect">
            <a:avLst/>
          </a:prstGeom>
          <a:solidFill>
            <a:srgbClr val="E3B33B"/>
          </a:solidFill>
          <a:ln/>
        </p:spPr>
      </p:sp>
      <p:sp>
        <p:nvSpPr>
          <p:cNvPr id="3" name="Text 1"/>
          <p:cNvSpPr/>
          <p:nvPr/>
        </p:nvSpPr>
        <p:spPr>
          <a:xfrm>
            <a:off x="457200" y="320040"/>
            <a:ext cx="292608" cy="292608"/>
          </a:xfrm>
          <a:prstGeom prst="rect">
            <a:avLst/>
          </a:prstGeom>
          <a:noFill/>
          <a:ln/>
        </p:spPr>
        <p:txBody>
          <a:bodyPr wrap="square" lIns="0" tIns="0" rIns="0" bIns="0" rtlCol="0" anchor="ctr"/>
          <a:lstStyle/>
          <a:p>
            <a:pPr algn="ctr" indent="0" marL="0">
              <a:buNone/>
            </a:pPr>
            <a:r>
              <a:rPr lang="en-US" sz="1300" b="1" dirty="0">
                <a:solidFill>
                  <a:srgbClr val="101A24"/>
                </a:solidFill>
                <a:latin typeface="Georgia" pitchFamily="34" charset="0"/>
                <a:ea typeface="Georgia" pitchFamily="34" charset="-122"/>
                <a:cs typeface="Georgia" pitchFamily="34" charset="-120"/>
              </a:rPr>
              <a:t>L</a:t>
            </a:r>
            <a:endParaRPr lang="en-US" sz="1300" dirty="0"/>
          </a:p>
        </p:txBody>
      </p:sp>
      <p:sp>
        <p:nvSpPr>
          <p:cNvPr id="4" name="Text 2"/>
          <p:cNvSpPr/>
          <p:nvPr/>
        </p:nvSpPr>
        <p:spPr>
          <a:xfrm>
            <a:off x="868680" y="320040"/>
            <a:ext cx="5486400" cy="292608"/>
          </a:xfrm>
          <a:prstGeom prst="rect">
            <a:avLst/>
          </a:prstGeom>
          <a:noFill/>
          <a:ln/>
        </p:spPr>
        <p:txBody>
          <a:bodyPr wrap="square" lIns="0" tIns="0" rIns="0" bIns="0" rtlCol="0" anchor="ctr"/>
          <a:lstStyle/>
          <a:p>
            <a:pPr indent="0" marL="0">
              <a:buNone/>
            </a:pPr>
            <a:r>
              <a:rPr lang="en-US" sz="1100" spc="200" kern="0" dirty="0">
                <a:solidFill>
                  <a:srgbClr val="A3AAB3"/>
                </a:solidFill>
                <a:latin typeface="Calibri" pitchFamily="34" charset="0"/>
                <a:ea typeface="Calibri" pitchFamily="34" charset="-122"/>
                <a:cs typeface="Calibri" pitchFamily="34" charset="-120"/>
              </a:rPr>
              <a:t>LIIVRR / STRATEGIC EXECUTION</a:t>
            </a:r>
            <a:endParaRPr lang="en-US" sz="1100" dirty="0"/>
          </a:p>
        </p:txBody>
      </p:sp>
      <p:sp>
        <p:nvSpPr>
          <p:cNvPr id="5" name="Shape 3"/>
          <p:cNvSpPr/>
          <p:nvPr/>
        </p:nvSpPr>
        <p:spPr>
          <a:xfrm>
            <a:off x="457200" y="6400800"/>
            <a:ext cx="11274552" cy="0"/>
          </a:xfrm>
          <a:prstGeom prst="line">
            <a:avLst/>
          </a:prstGeom>
          <a:noFill/>
          <a:ln w="9525">
            <a:solidFill>
              <a:srgbClr val="3E4852"/>
            </a:solidFill>
            <a:prstDash val="solid"/>
          </a:ln>
        </p:spPr>
      </p:sp>
      <p:sp>
        <p:nvSpPr>
          <p:cNvPr id="6" name="Text 4"/>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spc="200" kern="0" dirty="0">
                <a:solidFill>
                  <a:srgbClr val="A3AAB3"/>
                </a:solidFill>
                <a:latin typeface="Calibri" pitchFamily="34" charset="0"/>
                <a:ea typeface="Calibri" pitchFamily="34" charset="-122"/>
                <a:cs typeface="Calibri" pitchFamily="34" charset="-120"/>
              </a:rPr>
              <a:t>COO / BD OPERATIONAL ROADMAP</a:t>
            </a:r>
            <a:endParaRPr lang="en-US" sz="1000" dirty="0"/>
          </a:p>
        </p:txBody>
      </p:sp>
      <p:sp>
        <p:nvSpPr>
          <p:cNvPr id="7" name="Text 5"/>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E3B33B"/>
                </a:solidFill>
                <a:latin typeface="Calibri" pitchFamily="34" charset="0"/>
                <a:ea typeface="Calibri" pitchFamily="34" charset="-122"/>
                <a:cs typeface="Calibri" pitchFamily="34" charset="-120"/>
              </a:rPr>
              <a:t>01</a:t>
            </a:r>
            <a:endParaRPr lang="en-US" sz="1000" dirty="0"/>
          </a:p>
        </p:txBody>
      </p:sp>
      <p:sp>
        <p:nvSpPr>
          <p:cNvPr id="8" name="Text 6"/>
          <p:cNvSpPr/>
          <p:nvPr/>
        </p:nvSpPr>
        <p:spPr>
          <a:xfrm>
            <a:off x="457200" y="1097280"/>
            <a:ext cx="10972800" cy="320040"/>
          </a:xfrm>
          <a:prstGeom prst="rect">
            <a:avLst/>
          </a:prstGeom>
          <a:noFill/>
          <a:ln/>
        </p:spPr>
        <p:txBody>
          <a:bodyPr wrap="square" lIns="0" tIns="0" rIns="0" bIns="0" rtlCol="0" anchor="ctr"/>
          <a:lstStyle/>
          <a:p>
            <a:pPr indent="0" marL="0">
              <a:buNone/>
            </a:pPr>
            <a:r>
              <a:rPr lang="en-US" sz="1300" b="1" spc="300" kern="0" dirty="0">
                <a:solidFill>
                  <a:srgbClr val="E3B33B"/>
                </a:solidFill>
                <a:latin typeface="Calibri" pitchFamily="34" charset="0"/>
                <a:ea typeface="Calibri" pitchFamily="34" charset="-122"/>
                <a:cs typeface="Calibri" pitchFamily="34" charset="-120"/>
              </a:rPr>
              <a:t>TARGET ENTITY: LIIVRR LEADERSHIP TEAM</a:t>
            </a:r>
            <a:endParaRPr lang="en-US" sz="1300" dirty="0"/>
          </a:p>
        </p:txBody>
      </p:sp>
      <p:sp>
        <p:nvSpPr>
          <p:cNvPr id="9" name="Text 7"/>
          <p:cNvSpPr/>
          <p:nvPr/>
        </p:nvSpPr>
        <p:spPr>
          <a:xfrm>
            <a:off x="457200" y="1554480"/>
            <a:ext cx="7315200" cy="2011680"/>
          </a:xfrm>
          <a:prstGeom prst="rect">
            <a:avLst/>
          </a:prstGeom>
          <a:noFill/>
          <a:ln/>
        </p:spPr>
        <p:txBody>
          <a:bodyPr wrap="square" lIns="0" tIns="0" rIns="0" bIns="0" rtlCol="0" anchor="t"/>
          <a:lstStyle/>
          <a:p>
            <a:pPr indent="0" marL="0">
              <a:buNone/>
            </a:pPr>
            <a:r>
              <a:rPr lang="en-US" sz="4000" b="1" dirty="0">
                <a:solidFill>
                  <a:srgbClr val="F7F5EE"/>
                </a:solidFill>
                <a:latin typeface="Georgia" pitchFamily="34" charset="0"/>
                <a:ea typeface="Georgia" pitchFamily="34" charset="-122"/>
                <a:cs typeface="Georgia" pitchFamily="34" charset="-120"/>
              </a:rPr>
              <a:t>Strategic Execution Deck: COO/BD Operational Roadmap</a:t>
            </a:r>
            <a:endParaRPr lang="en-US" sz="4000" dirty="0"/>
          </a:p>
        </p:txBody>
      </p:sp>
      <p:sp>
        <p:nvSpPr>
          <p:cNvPr id="10" name="Text 8"/>
          <p:cNvSpPr/>
          <p:nvPr/>
        </p:nvSpPr>
        <p:spPr>
          <a:xfrm>
            <a:off x="457200" y="3749040"/>
            <a:ext cx="7132320" cy="2194560"/>
          </a:xfrm>
          <a:prstGeom prst="rect">
            <a:avLst/>
          </a:prstGeom>
          <a:noFill/>
          <a:ln/>
        </p:spPr>
        <p:txBody>
          <a:bodyPr wrap="square" lIns="0" tIns="0" rIns="0" bIns="0" rtlCol="0" anchor="t"/>
          <a:lstStyle/>
          <a:p>
            <a:pPr indent="0" marL="0">
              <a:buNone/>
            </a:pPr>
            <a:r>
              <a:rPr lang="en-US" sz="1600" dirty="0">
                <a:solidFill>
                  <a:srgbClr val="A3AAB3"/>
                </a:solidFill>
                <a:latin typeface="Calibri" pitchFamily="34" charset="0"/>
                <a:ea typeface="Calibri" pitchFamily="34" charset="-122"/>
                <a:cs typeface="Calibri" pitchFamily="34" charset="-120"/>
              </a:rPr>
              <a:t>Prepared by: Candidate for COO/BD</a:t>
            </a:r>
            <a:endParaRPr lang="en-US" sz="1600" dirty="0"/>
          </a:p>
        </p:txBody>
      </p:sp>
      <p:sp>
        <p:nvSpPr>
          <p:cNvPr id="11" name="Shape 9"/>
          <p:cNvSpPr/>
          <p:nvPr/>
        </p:nvSpPr>
        <p:spPr>
          <a:xfrm>
            <a:off x="8229600" y="1371600"/>
            <a:ext cx="3474720" cy="4480560"/>
          </a:xfrm>
          <a:prstGeom prst="rect">
            <a:avLst/>
          </a:prstGeom>
          <a:solidFill>
            <a:srgbClr val="18242F"/>
          </a:solidFill>
          <a:ln w="19050">
            <a:solidFill>
              <a:srgbClr val="E3B33B"/>
            </a:solidFill>
            <a:prstDash val="solid"/>
          </a:ln>
        </p:spPr>
      </p:sp>
      <p:sp>
        <p:nvSpPr>
          <p:cNvPr id="12" name="Text 10"/>
          <p:cNvSpPr/>
          <p:nvPr/>
        </p:nvSpPr>
        <p:spPr>
          <a:xfrm>
            <a:off x="8503920" y="1554480"/>
            <a:ext cx="3017520" cy="4114800"/>
          </a:xfrm>
          <a:prstGeom prst="rect">
            <a:avLst/>
          </a:prstGeom>
          <a:noFill/>
          <a:ln/>
        </p:spPr>
        <p:txBody>
          <a:bodyPr wrap="square" lIns="0" tIns="0" rIns="0" bIns="0" rtlCol="0" anchor="ctr"/>
          <a:lstStyle/>
          <a:p>
            <a:pPr indent="0" marL="0">
              <a:buNone/>
            </a:pPr>
            <a:r>
              <a:rPr lang="en-US" sz="1200" b="1" spc="200" kern="0" dirty="0">
                <a:solidFill>
                  <a:srgbClr val="E3B33B"/>
                </a:solidFill>
                <a:latin typeface="Calibri" pitchFamily="34" charset="0"/>
                <a:ea typeface="Calibri" pitchFamily="34" charset="-122"/>
                <a:cs typeface="Calibri" pitchFamily="34" charset="-120"/>
              </a:rPr>
              <a:t>NORTH STAR · DEC 2026</a:t>
            </a:r>
            <a:endParaRPr lang="en-US" sz="1200" dirty="0"/>
          </a:p>
          <a:p>
            <a:pPr indent="0" marL="0">
              <a:buNone/>
            </a:pPr>
            <a:r>
              <a:rPr lang="en-US" sz="6000" b="1" dirty="0">
                <a:solidFill>
                  <a:srgbClr val="F7F5EE"/>
                </a:solidFill>
                <a:latin typeface="Georgia" pitchFamily="34" charset="0"/>
                <a:ea typeface="Georgia" pitchFamily="34" charset="-122"/>
                <a:cs typeface="Georgia" pitchFamily="34" charset="-120"/>
              </a:rPr>
              <a:t>1,000</a:t>
            </a:r>
            <a:endParaRPr lang="en-US" sz="1200" dirty="0"/>
          </a:p>
          <a:p>
            <a:pPr indent="0" marL="0">
              <a:buNone/>
            </a:pPr>
            <a:r>
              <a:rPr lang="en-US" sz="1600" dirty="0">
                <a:solidFill>
                  <a:srgbClr val="A3AAB3"/>
                </a:solidFill>
                <a:latin typeface="Calibri" pitchFamily="34" charset="0"/>
                <a:ea typeface="Calibri" pitchFamily="34" charset="-122"/>
                <a:cs typeface="Calibri" pitchFamily="34" charset="-120"/>
              </a:rPr>
              <a:t>active users</a:t>
            </a:r>
            <a:endParaRPr lang="en-US" sz="1200" dirty="0"/>
          </a:p>
          <a:p>
            <a:pPr indent="0" marL="0">
              <a:buNone/>
            </a:pPr>
            <a:r>
              <a:rPr lang="en-US" sz="6000" b="1" dirty="0">
                <a:solidFill>
                  <a:srgbClr val="F7F5EE"/>
                </a:solidFill>
                <a:latin typeface="Georgia" pitchFamily="34" charset="0"/>
                <a:ea typeface="Georgia" pitchFamily="34" charset="-122"/>
                <a:cs typeface="Georgia" pitchFamily="34" charset="-120"/>
              </a:rPr>
              <a:t>50</a:t>
            </a:r>
            <a:endParaRPr lang="en-US" sz="1200" dirty="0"/>
          </a:p>
          <a:p>
            <a:pPr indent="0" marL="0">
              <a:buNone/>
            </a:pPr>
            <a:r>
              <a:rPr lang="en-US" sz="1600" dirty="0">
                <a:solidFill>
                  <a:srgbClr val="A3AAB3"/>
                </a:solidFill>
                <a:latin typeface="Calibri" pitchFamily="34" charset="0"/>
                <a:ea typeface="Calibri" pitchFamily="34" charset="-122"/>
                <a:cs typeface="Calibri" pitchFamily="34" charset="-120"/>
              </a:rPr>
              <a:t>merchant tenants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01A24"/>
        </a:solidFill>
      </p:bgPr>
    </p:bg>
    <p:spTree>
      <p:nvGrpSpPr>
        <p:cNvPr id="1" name=""/>
        <p:cNvGrpSpPr/>
        <p:nvPr/>
      </p:nvGrpSpPr>
      <p:grpSpPr>
        <a:xfrm>
          <a:off x="0" y="0"/>
          <a:ext cx="0" cy="0"/>
          <a:chOff x="0" y="0"/>
          <a:chExt cx="0" cy="0"/>
        </a:xfrm>
      </p:grpSpPr>
      <p:sp>
        <p:nvSpPr>
          <p:cNvPr id="2" name="Shape 0"/>
          <p:cNvSpPr/>
          <p:nvPr/>
        </p:nvSpPr>
        <p:spPr>
          <a:xfrm>
            <a:off x="457200" y="320040"/>
            <a:ext cx="292608" cy="292608"/>
          </a:xfrm>
          <a:prstGeom prst="rect">
            <a:avLst/>
          </a:prstGeom>
          <a:solidFill>
            <a:srgbClr val="E3B33B"/>
          </a:solidFill>
          <a:ln/>
        </p:spPr>
      </p:sp>
      <p:sp>
        <p:nvSpPr>
          <p:cNvPr id="3" name="Text 1"/>
          <p:cNvSpPr/>
          <p:nvPr/>
        </p:nvSpPr>
        <p:spPr>
          <a:xfrm>
            <a:off x="457200" y="320040"/>
            <a:ext cx="292608" cy="292608"/>
          </a:xfrm>
          <a:prstGeom prst="rect">
            <a:avLst/>
          </a:prstGeom>
          <a:noFill/>
          <a:ln/>
        </p:spPr>
        <p:txBody>
          <a:bodyPr wrap="square" lIns="0" tIns="0" rIns="0" bIns="0" rtlCol="0" anchor="ctr"/>
          <a:lstStyle/>
          <a:p>
            <a:pPr algn="ctr" indent="0" marL="0">
              <a:buNone/>
            </a:pPr>
            <a:r>
              <a:rPr lang="en-US" sz="1300" b="1" dirty="0">
                <a:solidFill>
                  <a:srgbClr val="101A24"/>
                </a:solidFill>
                <a:latin typeface="Georgia" pitchFamily="34" charset="0"/>
                <a:ea typeface="Georgia" pitchFamily="34" charset="-122"/>
                <a:cs typeface="Georgia" pitchFamily="34" charset="-120"/>
              </a:rPr>
              <a:t>L</a:t>
            </a:r>
            <a:endParaRPr lang="en-US" sz="1300" dirty="0"/>
          </a:p>
        </p:txBody>
      </p:sp>
      <p:sp>
        <p:nvSpPr>
          <p:cNvPr id="4" name="Text 2"/>
          <p:cNvSpPr/>
          <p:nvPr/>
        </p:nvSpPr>
        <p:spPr>
          <a:xfrm>
            <a:off x="868680" y="320040"/>
            <a:ext cx="5486400" cy="292608"/>
          </a:xfrm>
          <a:prstGeom prst="rect">
            <a:avLst/>
          </a:prstGeom>
          <a:noFill/>
          <a:ln/>
        </p:spPr>
        <p:txBody>
          <a:bodyPr wrap="square" lIns="0" tIns="0" rIns="0" bIns="0" rtlCol="0" anchor="ctr"/>
          <a:lstStyle/>
          <a:p>
            <a:pPr indent="0" marL="0">
              <a:buNone/>
            </a:pPr>
            <a:r>
              <a:rPr lang="en-US" sz="1100" spc="200" kern="0" dirty="0">
                <a:solidFill>
                  <a:srgbClr val="A3AAB3"/>
                </a:solidFill>
                <a:latin typeface="Calibri" pitchFamily="34" charset="0"/>
                <a:ea typeface="Calibri" pitchFamily="34" charset="-122"/>
                <a:cs typeface="Calibri" pitchFamily="34" charset="-120"/>
              </a:rPr>
              <a:t>LIIVRR / STRATEGIC EXECUTION</a:t>
            </a:r>
            <a:endParaRPr lang="en-US" sz="1100" dirty="0"/>
          </a:p>
        </p:txBody>
      </p:sp>
      <p:sp>
        <p:nvSpPr>
          <p:cNvPr id="5" name="Shape 3"/>
          <p:cNvSpPr/>
          <p:nvPr/>
        </p:nvSpPr>
        <p:spPr>
          <a:xfrm>
            <a:off x="457200" y="6400800"/>
            <a:ext cx="11274552" cy="0"/>
          </a:xfrm>
          <a:prstGeom prst="line">
            <a:avLst/>
          </a:prstGeom>
          <a:noFill/>
          <a:ln w="9525">
            <a:solidFill>
              <a:srgbClr val="3E4852"/>
            </a:solidFill>
            <a:prstDash val="solid"/>
          </a:ln>
        </p:spPr>
      </p:sp>
      <p:sp>
        <p:nvSpPr>
          <p:cNvPr id="6" name="Text 4"/>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spc="200" kern="0" dirty="0">
                <a:solidFill>
                  <a:srgbClr val="A3AAB3"/>
                </a:solidFill>
                <a:latin typeface="Calibri" pitchFamily="34" charset="0"/>
                <a:ea typeface="Calibri" pitchFamily="34" charset="-122"/>
                <a:cs typeface="Calibri" pitchFamily="34" charset="-120"/>
              </a:rPr>
              <a:t>COO / BD OPERATIONAL ROADMAP</a:t>
            </a:r>
            <a:endParaRPr lang="en-US" sz="1000" dirty="0"/>
          </a:p>
        </p:txBody>
      </p:sp>
      <p:sp>
        <p:nvSpPr>
          <p:cNvPr id="7" name="Text 5"/>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E3B33B"/>
                </a:solidFill>
                <a:latin typeface="Calibri" pitchFamily="34" charset="0"/>
                <a:ea typeface="Calibri" pitchFamily="34" charset="-122"/>
                <a:cs typeface="Calibri" pitchFamily="34" charset="-120"/>
              </a:rPr>
              <a:t>02</a:t>
            </a:r>
            <a:endParaRPr lang="en-US" sz="1000" dirty="0"/>
          </a:p>
        </p:txBody>
      </p:sp>
      <p:sp>
        <p:nvSpPr>
          <p:cNvPr id="8" name="Text 6"/>
          <p:cNvSpPr/>
          <p:nvPr/>
        </p:nvSpPr>
        <p:spPr>
          <a:xfrm>
            <a:off x="457200" y="868680"/>
            <a:ext cx="10972800" cy="320040"/>
          </a:xfrm>
          <a:prstGeom prst="rect">
            <a:avLst/>
          </a:prstGeom>
          <a:noFill/>
          <a:ln/>
        </p:spPr>
        <p:txBody>
          <a:bodyPr wrap="square" lIns="0" tIns="0" rIns="0" bIns="0" rtlCol="0" anchor="ctr"/>
          <a:lstStyle/>
          <a:p>
            <a:pPr indent="0" marL="0">
              <a:buNone/>
            </a:pPr>
            <a:r>
              <a:rPr lang="en-US" sz="1300" b="1" spc="300" kern="0" dirty="0">
                <a:solidFill>
                  <a:srgbClr val="E3B33B"/>
                </a:solidFill>
                <a:latin typeface="Calibri" pitchFamily="34" charset="0"/>
                <a:ea typeface="Calibri" pitchFamily="34" charset="-122"/>
                <a:cs typeface="Calibri" pitchFamily="34" charset="-120"/>
              </a:rPr>
              <a:t>STRATEGIC EXECUTION DECK</a:t>
            </a:r>
            <a:endParaRPr lang="en-US" sz="1300" dirty="0"/>
          </a:p>
        </p:txBody>
      </p:sp>
      <p:sp>
        <p:nvSpPr>
          <p:cNvPr id="9" name="Text 7"/>
          <p:cNvSpPr/>
          <p:nvPr/>
        </p:nvSpPr>
        <p:spPr>
          <a:xfrm>
            <a:off x="457200" y="1188720"/>
            <a:ext cx="10972800" cy="640080"/>
          </a:xfrm>
          <a:prstGeom prst="rect">
            <a:avLst/>
          </a:prstGeom>
          <a:noFill/>
          <a:ln/>
        </p:spPr>
        <p:txBody>
          <a:bodyPr wrap="square" lIns="0" tIns="0" rIns="0" bIns="0" rtlCol="0" anchor="ctr"/>
          <a:lstStyle/>
          <a:p>
            <a:pPr indent="0" marL="0">
              <a:buNone/>
            </a:pPr>
            <a:r>
              <a:rPr lang="en-US" sz="3400" b="1" dirty="0">
                <a:solidFill>
                  <a:srgbClr val="F7F5EE"/>
                </a:solidFill>
                <a:latin typeface="Georgia" pitchFamily="34" charset="0"/>
                <a:ea typeface="Georgia" pitchFamily="34" charset="-122"/>
                <a:cs typeface="Georgia" pitchFamily="34" charset="-120"/>
              </a:rPr>
              <a:t>COO/BD Operational Roadmap</a:t>
            </a:r>
            <a:endParaRPr lang="en-US" sz="3400" dirty="0"/>
          </a:p>
        </p:txBody>
      </p:sp>
      <p:sp>
        <p:nvSpPr>
          <p:cNvPr id="10" name="Text 8"/>
          <p:cNvSpPr/>
          <p:nvPr/>
        </p:nvSpPr>
        <p:spPr>
          <a:xfrm>
            <a:off x="457200" y="1920240"/>
            <a:ext cx="11247120" cy="822960"/>
          </a:xfrm>
          <a:prstGeom prst="rect">
            <a:avLst/>
          </a:prstGeom>
          <a:noFill/>
          <a:ln/>
        </p:spPr>
        <p:txBody>
          <a:bodyPr wrap="square" lIns="0" tIns="0" rIns="0" bIns="0" rtlCol="0" anchor="t"/>
          <a:lstStyle/>
          <a:p>
            <a:pPr indent="0" marL="0">
              <a:buNone/>
            </a:pPr>
            <a:r>
              <a:rPr lang="en-US" sz="1400" b="1" dirty="0">
                <a:solidFill>
                  <a:srgbClr val="F7F5EE"/>
                </a:solidFill>
                <a:latin typeface="Calibri" pitchFamily="34" charset="0"/>
                <a:ea typeface="Calibri" pitchFamily="34" charset="-122"/>
                <a:cs typeface="Calibri" pitchFamily="34" charset="-120"/>
              </a:rPr>
              <a:t>Objective: </a:t>
            </a:r>
            <a:pPr indent="0" marL="0">
              <a:buNone/>
            </a:pPr>
            <a:r>
              <a:rPr lang="en-US" sz="1400" dirty="0">
                <a:solidFill>
                  <a:srgbClr val="A3AAB3"/>
                </a:solidFill>
                <a:latin typeface="Calibri" pitchFamily="34" charset="0"/>
                <a:ea typeface="Calibri" pitchFamily="34" charset="-122"/>
                <a:cs typeface="Calibri" pitchFamily="34" charset="-120"/>
              </a:rPr>
              <a:t>A systematic blueprint to scale Liivrr through five hyper-efficient phases. Each step outlines the strategic objective (What), the business rationale (Why), and the precise execution path (How) to hit our core milestone of 1,000 active users and 50 merchant tenants (restaurants &amp; event organizers) by December 2026.</a:t>
            </a:r>
            <a:endParaRPr lang="en-US" sz="1400" dirty="0"/>
          </a:p>
        </p:txBody>
      </p:sp>
      <p:sp>
        <p:nvSpPr>
          <p:cNvPr id="11" name="Shape 9"/>
          <p:cNvSpPr/>
          <p:nvPr/>
        </p:nvSpPr>
        <p:spPr>
          <a:xfrm>
            <a:off x="457200" y="2926080"/>
            <a:ext cx="2697480" cy="3246120"/>
          </a:xfrm>
          <a:prstGeom prst="rect">
            <a:avLst/>
          </a:prstGeom>
          <a:solidFill>
            <a:srgbClr val="18242F"/>
          </a:solidFill>
          <a:ln w="9525">
            <a:solidFill>
              <a:srgbClr val="3E4852"/>
            </a:solidFill>
            <a:prstDash val="solid"/>
          </a:ln>
        </p:spPr>
      </p:sp>
      <p:sp>
        <p:nvSpPr>
          <p:cNvPr id="12" name="Shape 10"/>
          <p:cNvSpPr/>
          <p:nvPr/>
        </p:nvSpPr>
        <p:spPr>
          <a:xfrm>
            <a:off x="457200" y="2926080"/>
            <a:ext cx="2697480" cy="54864"/>
          </a:xfrm>
          <a:prstGeom prst="rect">
            <a:avLst/>
          </a:prstGeom>
          <a:solidFill>
            <a:srgbClr val="E3B33B"/>
          </a:solidFill>
          <a:ln w="12700">
            <a:solidFill>
              <a:srgbClr val="E3B33B"/>
            </a:solidFill>
            <a:prstDash val="solid"/>
          </a:ln>
        </p:spPr>
      </p:sp>
      <p:sp>
        <p:nvSpPr>
          <p:cNvPr id="13" name="Text 11"/>
          <p:cNvSpPr/>
          <p:nvPr/>
        </p:nvSpPr>
        <p:spPr>
          <a:xfrm>
            <a:off x="640080" y="3108960"/>
            <a:ext cx="2331720" cy="2926080"/>
          </a:xfrm>
          <a:prstGeom prst="rect">
            <a:avLst/>
          </a:prstGeom>
          <a:noFill/>
          <a:ln/>
        </p:spPr>
        <p:txBody>
          <a:bodyPr wrap="square" lIns="0" tIns="0" rIns="0" bIns="0" rtlCol="0" anchor="t"/>
          <a:lstStyle/>
          <a:p>
            <a:pPr indent="0" marL="0">
              <a:spcAft>
                <a:spcPts val="800"/>
              </a:spcAft>
              <a:buNone/>
            </a:pPr>
            <a:r>
              <a:rPr lang="en-US" sz="1000" b="1" spc="100" kern="0" dirty="0">
                <a:solidFill>
                  <a:srgbClr val="E3B33B"/>
                </a:solidFill>
                <a:latin typeface="Calibri" pitchFamily="34" charset="0"/>
                <a:ea typeface="Calibri" pitchFamily="34" charset="-122"/>
                <a:cs typeface="Calibri" pitchFamily="34" charset="-120"/>
              </a:rPr>
              <a:t>01 / COMPANY FORMATION</a:t>
            </a:r>
            <a:endParaRPr lang="en-US" sz="1000" dirty="0"/>
          </a:p>
          <a:p>
            <a:pPr indent="0" marL="0">
              <a:spcAft>
                <a:spcPts val="800"/>
              </a:spcAft>
              <a:buNone/>
            </a:pPr>
            <a:r>
              <a:rPr lang="en-US" sz="1600" b="1" dirty="0">
                <a:solidFill>
                  <a:srgbClr val="F7F5EE"/>
                </a:solidFill>
                <a:latin typeface="Georgia" pitchFamily="34" charset="0"/>
                <a:ea typeface="Georgia" pitchFamily="34" charset="-122"/>
                <a:cs typeface="Georgia" pitchFamily="34" charset="-120"/>
              </a:rPr>
              <a:t>LLC incorporation on Stripe Atlas</a:t>
            </a:r>
            <a:endParaRPr lang="en-US" sz="1000" dirty="0"/>
          </a:p>
          <a:p>
            <a:pPr indent="0" marL="0">
              <a:buNone/>
            </a:pPr>
            <a:r>
              <a:rPr lang="en-US" sz="1200" dirty="0">
                <a:solidFill>
                  <a:srgbClr val="A3AAB3"/>
                </a:solidFill>
                <a:latin typeface="Calibri" pitchFamily="34" charset="0"/>
                <a:ea typeface="Calibri" pitchFamily="34" charset="-122"/>
                <a:cs typeface="Calibri" pitchFamily="34" charset="-120"/>
              </a:rPr>
              <a:t>Prepare the LLC incorporation application through Stripe Atlas; confirm entity eligibility, ownership, formation documents, and tax requirements before filing.</a:t>
            </a:r>
            <a:endParaRPr lang="en-US" sz="1000" dirty="0"/>
          </a:p>
        </p:txBody>
      </p:sp>
      <p:sp>
        <p:nvSpPr>
          <p:cNvPr id="14" name="Shape 12"/>
          <p:cNvSpPr/>
          <p:nvPr/>
        </p:nvSpPr>
        <p:spPr>
          <a:xfrm>
            <a:off x="3310128" y="2926080"/>
            <a:ext cx="2697480" cy="3246120"/>
          </a:xfrm>
          <a:prstGeom prst="rect">
            <a:avLst/>
          </a:prstGeom>
          <a:solidFill>
            <a:srgbClr val="18242F"/>
          </a:solidFill>
          <a:ln w="9525">
            <a:solidFill>
              <a:srgbClr val="3E4852"/>
            </a:solidFill>
            <a:prstDash val="solid"/>
          </a:ln>
        </p:spPr>
      </p:sp>
      <p:sp>
        <p:nvSpPr>
          <p:cNvPr id="15" name="Shape 13"/>
          <p:cNvSpPr/>
          <p:nvPr/>
        </p:nvSpPr>
        <p:spPr>
          <a:xfrm>
            <a:off x="3310128" y="2926080"/>
            <a:ext cx="2697480" cy="54864"/>
          </a:xfrm>
          <a:prstGeom prst="rect">
            <a:avLst/>
          </a:prstGeom>
          <a:solidFill>
            <a:srgbClr val="E3B33B"/>
          </a:solidFill>
          <a:ln w="12700">
            <a:solidFill>
              <a:srgbClr val="E3B33B"/>
            </a:solidFill>
            <a:prstDash val="solid"/>
          </a:ln>
        </p:spPr>
      </p:sp>
      <p:sp>
        <p:nvSpPr>
          <p:cNvPr id="16" name="Text 14"/>
          <p:cNvSpPr/>
          <p:nvPr/>
        </p:nvSpPr>
        <p:spPr>
          <a:xfrm>
            <a:off x="3493008" y="3108960"/>
            <a:ext cx="2331720" cy="2926080"/>
          </a:xfrm>
          <a:prstGeom prst="rect">
            <a:avLst/>
          </a:prstGeom>
          <a:noFill/>
          <a:ln/>
        </p:spPr>
        <p:txBody>
          <a:bodyPr wrap="square" lIns="0" tIns="0" rIns="0" bIns="0" rtlCol="0" anchor="t"/>
          <a:lstStyle/>
          <a:p>
            <a:pPr indent="0" marL="0">
              <a:spcAft>
                <a:spcPts val="800"/>
              </a:spcAft>
              <a:buNone/>
            </a:pPr>
            <a:r>
              <a:rPr lang="en-US" sz="1000" b="1" spc="100" kern="0" dirty="0">
                <a:solidFill>
                  <a:srgbClr val="E3B33B"/>
                </a:solidFill>
                <a:latin typeface="Calibri" pitchFamily="34" charset="0"/>
                <a:ea typeface="Calibri" pitchFamily="34" charset="-122"/>
                <a:cs typeface="Calibri" pitchFamily="34" charset="-120"/>
              </a:rPr>
              <a:t>02 / INVESTOR READINESS</a:t>
            </a:r>
            <a:endParaRPr lang="en-US" sz="1000" dirty="0"/>
          </a:p>
          <a:p>
            <a:pPr indent="0" marL="0">
              <a:spcAft>
                <a:spcPts val="800"/>
              </a:spcAft>
              <a:buNone/>
            </a:pPr>
            <a:r>
              <a:rPr lang="en-US" sz="1600" b="1" dirty="0">
                <a:solidFill>
                  <a:srgbClr val="F7F5EE"/>
                </a:solidFill>
                <a:latin typeface="Georgia" pitchFamily="34" charset="0"/>
                <a:ea typeface="Georgia" pitchFamily="34" charset="-122"/>
                <a:cs typeface="Georgia" pitchFamily="34" charset="-120"/>
              </a:rPr>
              <a:t>Data Room creation using PageForm</a:t>
            </a:r>
            <a:endParaRPr lang="en-US" sz="1000" dirty="0"/>
          </a:p>
          <a:p>
            <a:pPr indent="0" marL="0">
              <a:buNone/>
            </a:pPr>
            <a:r>
              <a:rPr lang="en-US" sz="1200" dirty="0">
                <a:solidFill>
                  <a:srgbClr val="A3AAB3"/>
                </a:solidFill>
                <a:latin typeface="Calibri" pitchFamily="34" charset="0"/>
                <a:ea typeface="Calibri" pitchFamily="34" charset="-122"/>
                <a:cs typeface="Calibri" pitchFamily="34" charset="-120"/>
              </a:rPr>
              <a:t>Organize incorporation documents, ownership records, the product roadmap, grant applications, financials, and go-to-market materials in a controlled-access data room using PageForm.</a:t>
            </a:r>
            <a:endParaRPr lang="en-US" sz="1000" dirty="0"/>
          </a:p>
        </p:txBody>
      </p:sp>
      <p:sp>
        <p:nvSpPr>
          <p:cNvPr id="17" name="Shape 15"/>
          <p:cNvSpPr/>
          <p:nvPr/>
        </p:nvSpPr>
        <p:spPr>
          <a:xfrm>
            <a:off x="6163056" y="2926080"/>
            <a:ext cx="2697480" cy="3246120"/>
          </a:xfrm>
          <a:prstGeom prst="rect">
            <a:avLst/>
          </a:prstGeom>
          <a:solidFill>
            <a:srgbClr val="18242F"/>
          </a:solidFill>
          <a:ln w="9525">
            <a:solidFill>
              <a:srgbClr val="3E4852"/>
            </a:solidFill>
            <a:prstDash val="solid"/>
          </a:ln>
        </p:spPr>
      </p:sp>
      <p:sp>
        <p:nvSpPr>
          <p:cNvPr id="18" name="Shape 16"/>
          <p:cNvSpPr/>
          <p:nvPr/>
        </p:nvSpPr>
        <p:spPr>
          <a:xfrm>
            <a:off x="6163056" y="2926080"/>
            <a:ext cx="2697480" cy="54864"/>
          </a:xfrm>
          <a:prstGeom prst="rect">
            <a:avLst/>
          </a:prstGeom>
          <a:solidFill>
            <a:srgbClr val="E3B33B"/>
          </a:solidFill>
          <a:ln w="12700">
            <a:solidFill>
              <a:srgbClr val="E3B33B"/>
            </a:solidFill>
            <a:prstDash val="solid"/>
          </a:ln>
        </p:spPr>
      </p:sp>
      <p:sp>
        <p:nvSpPr>
          <p:cNvPr id="19" name="Text 17"/>
          <p:cNvSpPr/>
          <p:nvPr/>
        </p:nvSpPr>
        <p:spPr>
          <a:xfrm>
            <a:off x="6345936" y="3108960"/>
            <a:ext cx="2331720" cy="2926080"/>
          </a:xfrm>
          <a:prstGeom prst="rect">
            <a:avLst/>
          </a:prstGeom>
          <a:noFill/>
          <a:ln/>
        </p:spPr>
        <p:txBody>
          <a:bodyPr wrap="square" lIns="0" tIns="0" rIns="0" bIns="0" rtlCol="0" anchor="t"/>
          <a:lstStyle/>
          <a:p>
            <a:pPr indent="0" marL="0">
              <a:spcAft>
                <a:spcPts val="800"/>
              </a:spcAft>
              <a:buNone/>
            </a:pPr>
            <a:r>
              <a:rPr lang="en-US" sz="1000" b="1" spc="100" kern="0" dirty="0">
                <a:solidFill>
                  <a:srgbClr val="E3B33B"/>
                </a:solidFill>
                <a:latin typeface="Calibri" pitchFamily="34" charset="0"/>
                <a:ea typeface="Calibri" pitchFamily="34" charset="-122"/>
                <a:cs typeface="Calibri" pitchFamily="34" charset="-120"/>
              </a:rPr>
              <a:t>03 / FINANCIALS</a:t>
            </a:r>
            <a:endParaRPr lang="en-US" sz="1000" dirty="0"/>
          </a:p>
          <a:p>
            <a:pPr indent="0" marL="0">
              <a:spcAft>
                <a:spcPts val="800"/>
              </a:spcAft>
              <a:buNone/>
            </a:pPr>
            <a:r>
              <a:rPr lang="en-US" sz="1600" b="1" dirty="0">
                <a:solidFill>
                  <a:srgbClr val="F7F5EE"/>
                </a:solidFill>
                <a:latin typeface="Georgia" pitchFamily="34" charset="0"/>
                <a:ea typeface="Georgia" pitchFamily="34" charset="-122"/>
                <a:cs typeface="Georgia" pitchFamily="34" charset="-120"/>
              </a:rPr>
              <a:t>New hires &amp; how the money will be used</a:t>
            </a:r>
            <a:endParaRPr lang="en-US" sz="1000" dirty="0"/>
          </a:p>
          <a:p>
            <a:pPr indent="0" marL="0">
              <a:buNone/>
            </a:pPr>
            <a:r>
              <a:rPr lang="en-US" sz="1200" dirty="0">
                <a:solidFill>
                  <a:srgbClr val="A3AAB3"/>
                </a:solidFill>
                <a:latin typeface="Calibri" pitchFamily="34" charset="0"/>
                <a:ea typeface="Calibri" pitchFamily="34" charset="-122"/>
                <a:cs typeface="Calibri" pitchFamily="34" charset="-120"/>
              </a:rPr>
              <a:t>Prepare a hiring plan covering roles, start dates, and costs. Show funding allocation across new hires, engineering, infrastructure, marketing, and operations, with monthly cash flow and runway.</a:t>
            </a:r>
            <a:endParaRPr lang="en-US" sz="1000" dirty="0"/>
          </a:p>
        </p:txBody>
      </p:sp>
      <p:sp>
        <p:nvSpPr>
          <p:cNvPr id="20" name="Shape 18"/>
          <p:cNvSpPr/>
          <p:nvPr/>
        </p:nvSpPr>
        <p:spPr>
          <a:xfrm>
            <a:off x="9015984" y="2926080"/>
            <a:ext cx="2697480" cy="3246120"/>
          </a:xfrm>
          <a:prstGeom prst="rect">
            <a:avLst/>
          </a:prstGeom>
          <a:solidFill>
            <a:srgbClr val="18242F"/>
          </a:solidFill>
          <a:ln w="9525">
            <a:solidFill>
              <a:srgbClr val="3E4852"/>
            </a:solidFill>
            <a:prstDash val="solid"/>
          </a:ln>
        </p:spPr>
      </p:sp>
      <p:sp>
        <p:nvSpPr>
          <p:cNvPr id="21" name="Shape 19"/>
          <p:cNvSpPr/>
          <p:nvPr/>
        </p:nvSpPr>
        <p:spPr>
          <a:xfrm>
            <a:off x="9015984" y="2926080"/>
            <a:ext cx="2697480" cy="54864"/>
          </a:xfrm>
          <a:prstGeom prst="rect">
            <a:avLst/>
          </a:prstGeom>
          <a:solidFill>
            <a:srgbClr val="E3B33B"/>
          </a:solidFill>
          <a:ln w="12700">
            <a:solidFill>
              <a:srgbClr val="E3B33B"/>
            </a:solidFill>
            <a:prstDash val="solid"/>
          </a:ln>
        </p:spPr>
      </p:sp>
      <p:sp>
        <p:nvSpPr>
          <p:cNvPr id="22" name="Text 20"/>
          <p:cNvSpPr/>
          <p:nvPr/>
        </p:nvSpPr>
        <p:spPr>
          <a:xfrm>
            <a:off x="9198864" y="3108960"/>
            <a:ext cx="2331720" cy="2926080"/>
          </a:xfrm>
          <a:prstGeom prst="rect">
            <a:avLst/>
          </a:prstGeom>
          <a:noFill/>
          <a:ln/>
        </p:spPr>
        <p:txBody>
          <a:bodyPr wrap="square" lIns="0" tIns="0" rIns="0" bIns="0" rtlCol="0" anchor="t"/>
          <a:lstStyle/>
          <a:p>
            <a:pPr indent="0" marL="0">
              <a:spcAft>
                <a:spcPts val="800"/>
              </a:spcAft>
              <a:buNone/>
            </a:pPr>
            <a:r>
              <a:rPr lang="en-US" sz="1000" b="1" spc="100" kern="0" dirty="0">
                <a:solidFill>
                  <a:srgbClr val="E3B33B"/>
                </a:solidFill>
                <a:latin typeface="Calibri" pitchFamily="34" charset="0"/>
                <a:ea typeface="Calibri" pitchFamily="34" charset="-122"/>
                <a:cs typeface="Calibri" pitchFamily="34" charset="-120"/>
              </a:rPr>
              <a:t>04 / GO-TO-MARKET STRATEGY</a:t>
            </a:r>
            <a:endParaRPr lang="en-US" sz="1000" dirty="0"/>
          </a:p>
          <a:p>
            <a:pPr indent="0" marL="0">
              <a:spcAft>
                <a:spcPts val="800"/>
              </a:spcAft>
              <a:buNone/>
            </a:pPr>
            <a:r>
              <a:rPr lang="en-US" sz="1600" b="1" dirty="0">
                <a:solidFill>
                  <a:srgbClr val="F7F5EE"/>
                </a:solidFill>
                <a:latin typeface="Georgia" pitchFamily="34" charset="0"/>
                <a:ea typeface="Georgia" pitchFamily="34" charset="-122"/>
                <a:cs typeface="Georgia" pitchFamily="34" charset="-120"/>
              </a:rPr>
              <a:t>Collegiate Pilot &amp; Tenant Acquisition Run</a:t>
            </a:r>
            <a:endParaRPr lang="en-US" sz="1000" dirty="0"/>
          </a:p>
          <a:p>
            <a:pPr indent="0" marL="0">
              <a:buNone/>
            </a:pPr>
            <a:r>
              <a:rPr lang="en-US" sz="1200" dirty="0">
                <a:solidFill>
                  <a:srgbClr val="A3AAB3"/>
                </a:solidFill>
                <a:latin typeface="Calibri" pitchFamily="34" charset="0"/>
                <a:ea typeface="Calibri" pitchFamily="34" charset="-122"/>
                <a:cs typeface="Calibri" pitchFamily="34" charset="-120"/>
              </a:rPr>
              <a:t>Launch a hyper-dense, high-retention user acquisition pilot across target campus clusters, aggressively onboarding 50 local restaurant and event tenants alongside a core base of 1,000 active users by December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1A24"/>
        </a:solidFill>
      </p:bgPr>
    </p:bg>
    <p:spTree>
      <p:nvGrpSpPr>
        <p:cNvPr id="1" name=""/>
        <p:cNvGrpSpPr/>
        <p:nvPr/>
      </p:nvGrpSpPr>
      <p:grpSpPr>
        <a:xfrm>
          <a:off x="0" y="0"/>
          <a:ext cx="0" cy="0"/>
          <a:chOff x="0" y="0"/>
          <a:chExt cx="0" cy="0"/>
        </a:xfrm>
      </p:grpSpPr>
      <p:sp>
        <p:nvSpPr>
          <p:cNvPr id="2" name="Shape 0"/>
          <p:cNvSpPr/>
          <p:nvPr/>
        </p:nvSpPr>
        <p:spPr>
          <a:xfrm>
            <a:off x="457200" y="320040"/>
            <a:ext cx="292608" cy="292608"/>
          </a:xfrm>
          <a:prstGeom prst="rect">
            <a:avLst/>
          </a:prstGeom>
          <a:solidFill>
            <a:srgbClr val="E3B33B"/>
          </a:solidFill>
          <a:ln/>
        </p:spPr>
      </p:sp>
      <p:sp>
        <p:nvSpPr>
          <p:cNvPr id="3" name="Text 1"/>
          <p:cNvSpPr/>
          <p:nvPr/>
        </p:nvSpPr>
        <p:spPr>
          <a:xfrm>
            <a:off x="457200" y="320040"/>
            <a:ext cx="292608" cy="292608"/>
          </a:xfrm>
          <a:prstGeom prst="rect">
            <a:avLst/>
          </a:prstGeom>
          <a:noFill/>
          <a:ln/>
        </p:spPr>
        <p:txBody>
          <a:bodyPr wrap="square" lIns="0" tIns="0" rIns="0" bIns="0" rtlCol="0" anchor="ctr"/>
          <a:lstStyle/>
          <a:p>
            <a:pPr algn="ctr" indent="0" marL="0">
              <a:buNone/>
            </a:pPr>
            <a:r>
              <a:rPr lang="en-US" sz="1300" b="1" dirty="0">
                <a:solidFill>
                  <a:srgbClr val="101A24"/>
                </a:solidFill>
                <a:latin typeface="Georgia" pitchFamily="34" charset="0"/>
                <a:ea typeface="Georgia" pitchFamily="34" charset="-122"/>
                <a:cs typeface="Georgia" pitchFamily="34" charset="-120"/>
              </a:rPr>
              <a:t>L</a:t>
            </a:r>
            <a:endParaRPr lang="en-US" sz="1300" dirty="0"/>
          </a:p>
        </p:txBody>
      </p:sp>
      <p:sp>
        <p:nvSpPr>
          <p:cNvPr id="4" name="Text 2"/>
          <p:cNvSpPr/>
          <p:nvPr/>
        </p:nvSpPr>
        <p:spPr>
          <a:xfrm>
            <a:off x="868680" y="320040"/>
            <a:ext cx="5486400" cy="292608"/>
          </a:xfrm>
          <a:prstGeom prst="rect">
            <a:avLst/>
          </a:prstGeom>
          <a:noFill/>
          <a:ln/>
        </p:spPr>
        <p:txBody>
          <a:bodyPr wrap="square" lIns="0" tIns="0" rIns="0" bIns="0" rtlCol="0" anchor="ctr"/>
          <a:lstStyle/>
          <a:p>
            <a:pPr indent="0" marL="0">
              <a:buNone/>
            </a:pPr>
            <a:r>
              <a:rPr lang="en-US" sz="1100" spc="200" kern="0" dirty="0">
                <a:solidFill>
                  <a:srgbClr val="A3AAB3"/>
                </a:solidFill>
                <a:latin typeface="Calibri" pitchFamily="34" charset="0"/>
                <a:ea typeface="Calibri" pitchFamily="34" charset="-122"/>
                <a:cs typeface="Calibri" pitchFamily="34" charset="-120"/>
              </a:rPr>
              <a:t>LIIVRR / STRATEGIC EXECUTION</a:t>
            </a:r>
            <a:endParaRPr lang="en-US" sz="1100" dirty="0"/>
          </a:p>
        </p:txBody>
      </p:sp>
      <p:sp>
        <p:nvSpPr>
          <p:cNvPr id="5" name="Shape 3"/>
          <p:cNvSpPr/>
          <p:nvPr/>
        </p:nvSpPr>
        <p:spPr>
          <a:xfrm>
            <a:off x="457200" y="6400800"/>
            <a:ext cx="11274552" cy="0"/>
          </a:xfrm>
          <a:prstGeom prst="line">
            <a:avLst/>
          </a:prstGeom>
          <a:noFill/>
          <a:ln w="9525">
            <a:solidFill>
              <a:srgbClr val="3E4852"/>
            </a:solidFill>
            <a:prstDash val="solid"/>
          </a:ln>
        </p:spPr>
      </p:sp>
      <p:sp>
        <p:nvSpPr>
          <p:cNvPr id="6" name="Text 4"/>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spc="200" kern="0" dirty="0">
                <a:solidFill>
                  <a:srgbClr val="A3AAB3"/>
                </a:solidFill>
                <a:latin typeface="Calibri" pitchFamily="34" charset="0"/>
                <a:ea typeface="Calibri" pitchFamily="34" charset="-122"/>
                <a:cs typeface="Calibri" pitchFamily="34" charset="-120"/>
              </a:rPr>
              <a:t>COO / BD OPERATIONAL ROADMAP</a:t>
            </a:r>
            <a:endParaRPr lang="en-US" sz="1000" dirty="0"/>
          </a:p>
        </p:txBody>
      </p:sp>
      <p:sp>
        <p:nvSpPr>
          <p:cNvPr id="7" name="Text 5"/>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E3B33B"/>
                </a:solidFill>
                <a:latin typeface="Calibri" pitchFamily="34" charset="0"/>
                <a:ea typeface="Calibri" pitchFamily="34" charset="-122"/>
                <a:cs typeface="Calibri" pitchFamily="34" charset="-120"/>
              </a:rPr>
              <a:t>03</a:t>
            </a:r>
            <a:endParaRPr lang="en-US" sz="1000" dirty="0"/>
          </a:p>
        </p:txBody>
      </p:sp>
      <p:sp>
        <p:nvSpPr>
          <p:cNvPr id="8" name="Text 6"/>
          <p:cNvSpPr/>
          <p:nvPr/>
        </p:nvSpPr>
        <p:spPr>
          <a:xfrm>
            <a:off x="457200" y="868680"/>
            <a:ext cx="10972800" cy="320040"/>
          </a:xfrm>
          <a:prstGeom prst="rect">
            <a:avLst/>
          </a:prstGeom>
          <a:noFill/>
          <a:ln/>
        </p:spPr>
        <p:txBody>
          <a:bodyPr wrap="square" lIns="0" tIns="0" rIns="0" bIns="0" rtlCol="0" anchor="ctr"/>
          <a:lstStyle/>
          <a:p>
            <a:pPr indent="0" marL="0">
              <a:buNone/>
            </a:pPr>
            <a:r>
              <a:rPr lang="en-US" sz="1300" b="1" spc="300" kern="0" dirty="0">
                <a:solidFill>
                  <a:srgbClr val="E3B33B"/>
                </a:solidFill>
                <a:latin typeface="Calibri" pitchFamily="34" charset="0"/>
                <a:ea typeface="Calibri" pitchFamily="34" charset="-122"/>
                <a:cs typeface="Calibri" pitchFamily="34" charset="-120"/>
              </a:rPr>
              <a:t>THE STRATEGY</a:t>
            </a:r>
            <a:endParaRPr lang="en-US" sz="1300" dirty="0"/>
          </a:p>
        </p:txBody>
      </p:sp>
      <p:sp>
        <p:nvSpPr>
          <p:cNvPr id="9" name="Text 7"/>
          <p:cNvSpPr/>
          <p:nvPr/>
        </p:nvSpPr>
        <p:spPr>
          <a:xfrm>
            <a:off x="457200" y="1188720"/>
            <a:ext cx="10972800" cy="731520"/>
          </a:xfrm>
          <a:prstGeom prst="rect">
            <a:avLst/>
          </a:prstGeom>
          <a:noFill/>
          <a:ln/>
        </p:spPr>
        <p:txBody>
          <a:bodyPr wrap="square" lIns="0" tIns="0" rIns="0" bIns="0" rtlCol="0" anchor="ctr"/>
          <a:lstStyle/>
          <a:p>
            <a:pPr indent="0" marL="0">
              <a:buNone/>
            </a:pPr>
            <a:r>
              <a:rPr lang="en-US" sz="3800" b="1" dirty="0">
                <a:solidFill>
                  <a:srgbClr val="F7F5EE"/>
                </a:solidFill>
                <a:latin typeface="Georgia" pitchFamily="34" charset="0"/>
                <a:ea typeface="Georgia" pitchFamily="34" charset="-122"/>
                <a:cs typeface="Georgia" pitchFamily="34" charset="-120"/>
              </a:rPr>
              <a:t>Sequence risk before scale.</a:t>
            </a:r>
            <a:endParaRPr lang="en-US" sz="3800" dirty="0"/>
          </a:p>
        </p:txBody>
      </p:sp>
      <p:sp>
        <p:nvSpPr>
          <p:cNvPr id="10" name="Shape 8"/>
          <p:cNvSpPr/>
          <p:nvPr/>
        </p:nvSpPr>
        <p:spPr>
          <a:xfrm>
            <a:off x="457200" y="2377440"/>
            <a:ext cx="2103120" cy="2651760"/>
          </a:xfrm>
          <a:prstGeom prst="rect">
            <a:avLst/>
          </a:prstGeom>
          <a:solidFill>
            <a:srgbClr val="18242F"/>
          </a:solidFill>
          <a:ln w="9525">
            <a:solidFill>
              <a:srgbClr val="3E4852"/>
            </a:solidFill>
            <a:prstDash val="solid"/>
          </a:ln>
        </p:spPr>
      </p:sp>
      <p:sp>
        <p:nvSpPr>
          <p:cNvPr id="11" name="Text 9"/>
          <p:cNvSpPr/>
          <p:nvPr/>
        </p:nvSpPr>
        <p:spPr>
          <a:xfrm>
            <a:off x="640080" y="2560320"/>
            <a:ext cx="1737360" cy="2286000"/>
          </a:xfrm>
          <a:prstGeom prst="rect">
            <a:avLst/>
          </a:prstGeom>
          <a:noFill/>
          <a:ln/>
        </p:spPr>
        <p:txBody>
          <a:bodyPr wrap="square" lIns="0" tIns="0" rIns="0" bIns="0" rtlCol="0" anchor="t"/>
          <a:lstStyle/>
          <a:p>
            <a:pPr indent="0" marL="0">
              <a:buNone/>
            </a:pPr>
            <a:r>
              <a:rPr lang="en-US" sz="3000" b="1" dirty="0">
                <a:solidFill>
                  <a:srgbClr val="E3B33B"/>
                </a:solidFill>
                <a:latin typeface="Georgia" pitchFamily="34" charset="0"/>
                <a:ea typeface="Georgia" pitchFamily="34" charset="-122"/>
                <a:cs typeface="Georgia" pitchFamily="34" charset="-120"/>
              </a:rPr>
              <a:t>01</a:t>
            </a:r>
            <a:endParaRPr lang="en-US" sz="3000" dirty="0"/>
          </a:p>
          <a:p>
            <a:pPr indent="0" marL="0">
              <a:spcAft>
                <a:spcPts val="600"/>
              </a:spcAft>
              <a:buNone/>
            </a:pPr>
            <a:r>
              <a:rPr lang="en-US" sz="1500" b="1" spc="200" kern="0" dirty="0">
                <a:solidFill>
                  <a:srgbClr val="F7F5EE"/>
                </a:solidFill>
                <a:latin typeface="Calibri" pitchFamily="34" charset="0"/>
                <a:ea typeface="Calibri" pitchFamily="34" charset="-122"/>
                <a:cs typeface="Calibri" pitchFamily="34" charset="-120"/>
              </a:rPr>
              <a:t>PROVE</a:t>
            </a:r>
            <a:endParaRPr lang="en-US" sz="3000" dirty="0"/>
          </a:p>
          <a:p>
            <a:pPr indent="0" marL="0">
              <a:buNone/>
            </a:pPr>
            <a:r>
              <a:rPr lang="en-US" sz="1300" dirty="0">
                <a:solidFill>
                  <a:srgbClr val="A3AAB3"/>
                </a:solidFill>
                <a:latin typeface="Calibri" pitchFamily="34" charset="0"/>
                <a:ea typeface="Calibri" pitchFamily="34" charset="-122"/>
                <a:cs typeface="Calibri" pitchFamily="34" charset="-120"/>
              </a:rPr>
              <a:t>Ship the transaction layer and remove core technical uncertainty.</a:t>
            </a:r>
            <a:endParaRPr lang="en-US" sz="3000" dirty="0"/>
          </a:p>
        </p:txBody>
      </p:sp>
      <p:sp>
        <p:nvSpPr>
          <p:cNvPr id="12" name="Shape 10"/>
          <p:cNvSpPr/>
          <p:nvPr/>
        </p:nvSpPr>
        <p:spPr>
          <a:xfrm>
            <a:off x="2743200" y="2377440"/>
            <a:ext cx="2103120" cy="2651760"/>
          </a:xfrm>
          <a:prstGeom prst="rect">
            <a:avLst/>
          </a:prstGeom>
          <a:solidFill>
            <a:srgbClr val="18242F"/>
          </a:solidFill>
          <a:ln w="9525">
            <a:solidFill>
              <a:srgbClr val="3E4852"/>
            </a:solidFill>
            <a:prstDash val="solid"/>
          </a:ln>
        </p:spPr>
      </p:sp>
      <p:sp>
        <p:nvSpPr>
          <p:cNvPr id="13" name="Text 11"/>
          <p:cNvSpPr/>
          <p:nvPr/>
        </p:nvSpPr>
        <p:spPr>
          <a:xfrm>
            <a:off x="2926080" y="2560320"/>
            <a:ext cx="1737360" cy="2286000"/>
          </a:xfrm>
          <a:prstGeom prst="rect">
            <a:avLst/>
          </a:prstGeom>
          <a:noFill/>
          <a:ln/>
        </p:spPr>
        <p:txBody>
          <a:bodyPr wrap="square" lIns="0" tIns="0" rIns="0" bIns="0" rtlCol="0" anchor="t"/>
          <a:lstStyle/>
          <a:p>
            <a:pPr indent="0" marL="0">
              <a:buNone/>
            </a:pPr>
            <a:r>
              <a:rPr lang="en-US" sz="3000" b="1" dirty="0">
                <a:solidFill>
                  <a:srgbClr val="E3B33B"/>
                </a:solidFill>
                <a:latin typeface="Georgia" pitchFamily="34" charset="0"/>
                <a:ea typeface="Georgia" pitchFamily="34" charset="-122"/>
                <a:cs typeface="Georgia" pitchFamily="34" charset="-120"/>
              </a:rPr>
              <a:t>02</a:t>
            </a:r>
            <a:endParaRPr lang="en-US" sz="3000" dirty="0"/>
          </a:p>
          <a:p>
            <a:pPr indent="0" marL="0">
              <a:spcAft>
                <a:spcPts val="600"/>
              </a:spcAft>
              <a:buNone/>
            </a:pPr>
            <a:r>
              <a:rPr lang="en-US" sz="1500" b="1" spc="200" kern="0" dirty="0">
                <a:solidFill>
                  <a:srgbClr val="F7F5EE"/>
                </a:solidFill>
                <a:latin typeface="Calibri" pitchFamily="34" charset="0"/>
                <a:ea typeface="Calibri" pitchFamily="34" charset="-122"/>
                <a:cs typeface="Calibri" pitchFamily="34" charset="-120"/>
              </a:rPr>
              <a:t>FUND</a:t>
            </a:r>
            <a:endParaRPr lang="en-US" sz="3000" dirty="0"/>
          </a:p>
          <a:p>
            <a:pPr indent="0" marL="0">
              <a:buNone/>
            </a:pPr>
            <a:r>
              <a:rPr lang="en-US" sz="1300" dirty="0">
                <a:solidFill>
                  <a:srgbClr val="A3AAB3"/>
                </a:solidFill>
                <a:latin typeface="Calibri" pitchFamily="34" charset="0"/>
                <a:ea typeface="Calibri" pitchFamily="34" charset="-122"/>
                <a:cs typeface="Calibri" pitchFamily="34" charset="-120"/>
              </a:rPr>
              <a:t>Convert working proof into non-dilutive operating runway.</a:t>
            </a:r>
            <a:endParaRPr lang="en-US" sz="3000" dirty="0"/>
          </a:p>
        </p:txBody>
      </p:sp>
      <p:sp>
        <p:nvSpPr>
          <p:cNvPr id="14" name="Shape 12"/>
          <p:cNvSpPr/>
          <p:nvPr/>
        </p:nvSpPr>
        <p:spPr>
          <a:xfrm>
            <a:off x="5029200" y="2377440"/>
            <a:ext cx="2103120" cy="2651760"/>
          </a:xfrm>
          <a:prstGeom prst="rect">
            <a:avLst/>
          </a:prstGeom>
          <a:solidFill>
            <a:srgbClr val="18242F"/>
          </a:solidFill>
          <a:ln w="9525">
            <a:solidFill>
              <a:srgbClr val="3E4852"/>
            </a:solidFill>
            <a:prstDash val="solid"/>
          </a:ln>
        </p:spPr>
      </p:sp>
      <p:sp>
        <p:nvSpPr>
          <p:cNvPr id="15" name="Text 13"/>
          <p:cNvSpPr/>
          <p:nvPr/>
        </p:nvSpPr>
        <p:spPr>
          <a:xfrm>
            <a:off x="5212080" y="2560320"/>
            <a:ext cx="1737360" cy="2286000"/>
          </a:xfrm>
          <a:prstGeom prst="rect">
            <a:avLst/>
          </a:prstGeom>
          <a:noFill/>
          <a:ln/>
        </p:spPr>
        <p:txBody>
          <a:bodyPr wrap="square" lIns="0" tIns="0" rIns="0" bIns="0" rtlCol="0" anchor="t"/>
          <a:lstStyle/>
          <a:p>
            <a:pPr indent="0" marL="0">
              <a:buNone/>
            </a:pPr>
            <a:r>
              <a:rPr lang="en-US" sz="3000" b="1" dirty="0">
                <a:solidFill>
                  <a:srgbClr val="E3B33B"/>
                </a:solidFill>
                <a:latin typeface="Georgia" pitchFamily="34" charset="0"/>
                <a:ea typeface="Georgia" pitchFamily="34" charset="-122"/>
                <a:cs typeface="Georgia" pitchFamily="34" charset="-120"/>
              </a:rPr>
              <a:t>03</a:t>
            </a:r>
            <a:endParaRPr lang="en-US" sz="3000" dirty="0"/>
          </a:p>
          <a:p>
            <a:pPr indent="0" marL="0">
              <a:spcAft>
                <a:spcPts val="600"/>
              </a:spcAft>
              <a:buNone/>
            </a:pPr>
            <a:r>
              <a:rPr lang="en-US" sz="1500" b="1" spc="200" kern="0" dirty="0">
                <a:solidFill>
                  <a:srgbClr val="F7F5EE"/>
                </a:solidFill>
                <a:latin typeface="Calibri" pitchFamily="34" charset="0"/>
                <a:ea typeface="Calibri" pitchFamily="34" charset="-122"/>
                <a:cs typeface="Calibri" pitchFamily="34" charset="-120"/>
              </a:rPr>
              <a:t>CONCENTRATE</a:t>
            </a:r>
            <a:endParaRPr lang="en-US" sz="3000" dirty="0"/>
          </a:p>
          <a:p>
            <a:pPr indent="0" marL="0">
              <a:buNone/>
            </a:pPr>
            <a:r>
              <a:rPr lang="en-US" sz="1300" dirty="0">
                <a:solidFill>
                  <a:srgbClr val="A3AAB3"/>
                </a:solidFill>
                <a:latin typeface="Calibri" pitchFamily="34" charset="0"/>
                <a:ea typeface="Calibri" pitchFamily="34" charset="-122"/>
                <a:cs typeface="Calibri" pitchFamily="34" charset="-120"/>
              </a:rPr>
              <a:t>Build dense supply and demand inside focused campus clusters.</a:t>
            </a:r>
            <a:endParaRPr lang="en-US" sz="3000" dirty="0"/>
          </a:p>
        </p:txBody>
      </p:sp>
      <p:sp>
        <p:nvSpPr>
          <p:cNvPr id="16" name="Shape 14"/>
          <p:cNvSpPr/>
          <p:nvPr/>
        </p:nvSpPr>
        <p:spPr>
          <a:xfrm>
            <a:off x="7315200" y="2377440"/>
            <a:ext cx="2103120" cy="2651760"/>
          </a:xfrm>
          <a:prstGeom prst="rect">
            <a:avLst/>
          </a:prstGeom>
          <a:solidFill>
            <a:srgbClr val="18242F"/>
          </a:solidFill>
          <a:ln w="9525">
            <a:solidFill>
              <a:srgbClr val="3E4852"/>
            </a:solidFill>
            <a:prstDash val="solid"/>
          </a:ln>
        </p:spPr>
      </p:sp>
      <p:sp>
        <p:nvSpPr>
          <p:cNvPr id="17" name="Text 15"/>
          <p:cNvSpPr/>
          <p:nvPr/>
        </p:nvSpPr>
        <p:spPr>
          <a:xfrm>
            <a:off x="7498080" y="2560320"/>
            <a:ext cx="1737360" cy="2286000"/>
          </a:xfrm>
          <a:prstGeom prst="rect">
            <a:avLst/>
          </a:prstGeom>
          <a:noFill/>
          <a:ln/>
        </p:spPr>
        <p:txBody>
          <a:bodyPr wrap="square" lIns="0" tIns="0" rIns="0" bIns="0" rtlCol="0" anchor="t"/>
          <a:lstStyle/>
          <a:p>
            <a:pPr indent="0" marL="0">
              <a:buNone/>
            </a:pPr>
            <a:r>
              <a:rPr lang="en-US" sz="3000" b="1" dirty="0">
                <a:solidFill>
                  <a:srgbClr val="E3B33B"/>
                </a:solidFill>
                <a:latin typeface="Georgia" pitchFamily="34" charset="0"/>
                <a:ea typeface="Georgia" pitchFamily="34" charset="-122"/>
                <a:cs typeface="Georgia" pitchFamily="34" charset="-120"/>
              </a:rPr>
              <a:t>04</a:t>
            </a:r>
            <a:endParaRPr lang="en-US" sz="3000" dirty="0"/>
          </a:p>
          <a:p>
            <a:pPr indent="0" marL="0">
              <a:spcAft>
                <a:spcPts val="600"/>
              </a:spcAft>
              <a:buNone/>
            </a:pPr>
            <a:r>
              <a:rPr lang="en-US" sz="1500" b="1" spc="200" kern="0" dirty="0">
                <a:solidFill>
                  <a:srgbClr val="F7F5EE"/>
                </a:solidFill>
                <a:latin typeface="Calibri" pitchFamily="34" charset="0"/>
                <a:ea typeface="Calibri" pitchFamily="34" charset="-122"/>
                <a:cs typeface="Calibri" pitchFamily="34" charset="-120"/>
              </a:rPr>
              <a:t>DIFFERENTIATE</a:t>
            </a:r>
            <a:endParaRPr lang="en-US" sz="3000" dirty="0"/>
          </a:p>
          <a:p>
            <a:pPr indent="0" marL="0">
              <a:buNone/>
            </a:pPr>
            <a:r>
              <a:rPr lang="en-US" sz="1300" dirty="0">
                <a:solidFill>
                  <a:srgbClr val="A3AAB3"/>
                </a:solidFill>
                <a:latin typeface="Calibri" pitchFamily="34" charset="0"/>
                <a:ea typeface="Calibri" pitchFamily="34" charset="-122"/>
                <a:cs typeface="Calibri" pitchFamily="34" charset="-120"/>
              </a:rPr>
              <a:t>Make discovery, booking, and payment conversational.</a:t>
            </a:r>
            <a:endParaRPr lang="en-US" sz="3000" dirty="0"/>
          </a:p>
        </p:txBody>
      </p:sp>
      <p:sp>
        <p:nvSpPr>
          <p:cNvPr id="18" name="Shape 16"/>
          <p:cNvSpPr/>
          <p:nvPr/>
        </p:nvSpPr>
        <p:spPr>
          <a:xfrm>
            <a:off x="9601200" y="2377440"/>
            <a:ext cx="2103120" cy="2651760"/>
          </a:xfrm>
          <a:prstGeom prst="rect">
            <a:avLst/>
          </a:prstGeom>
          <a:solidFill>
            <a:srgbClr val="18242F"/>
          </a:solidFill>
          <a:ln w="9525">
            <a:solidFill>
              <a:srgbClr val="3E4852"/>
            </a:solidFill>
            <a:prstDash val="solid"/>
          </a:ln>
        </p:spPr>
      </p:sp>
      <p:sp>
        <p:nvSpPr>
          <p:cNvPr id="19" name="Text 17"/>
          <p:cNvSpPr/>
          <p:nvPr/>
        </p:nvSpPr>
        <p:spPr>
          <a:xfrm>
            <a:off x="9784080" y="2560320"/>
            <a:ext cx="1737360" cy="2286000"/>
          </a:xfrm>
          <a:prstGeom prst="rect">
            <a:avLst/>
          </a:prstGeom>
          <a:noFill/>
          <a:ln/>
        </p:spPr>
        <p:txBody>
          <a:bodyPr wrap="square" lIns="0" tIns="0" rIns="0" bIns="0" rtlCol="0" anchor="t"/>
          <a:lstStyle/>
          <a:p>
            <a:pPr indent="0" marL="0">
              <a:buNone/>
            </a:pPr>
            <a:r>
              <a:rPr lang="en-US" sz="3000" b="1" dirty="0">
                <a:solidFill>
                  <a:srgbClr val="E3B33B"/>
                </a:solidFill>
                <a:latin typeface="Georgia" pitchFamily="34" charset="0"/>
                <a:ea typeface="Georgia" pitchFamily="34" charset="-122"/>
                <a:cs typeface="Georgia" pitchFamily="34" charset="-120"/>
              </a:rPr>
              <a:t>05</a:t>
            </a:r>
            <a:endParaRPr lang="en-US" sz="3000" dirty="0"/>
          </a:p>
          <a:p>
            <a:pPr indent="0" marL="0">
              <a:spcAft>
                <a:spcPts val="600"/>
              </a:spcAft>
              <a:buNone/>
            </a:pPr>
            <a:r>
              <a:rPr lang="en-US" sz="1500" b="1" spc="200" kern="0" dirty="0">
                <a:solidFill>
                  <a:srgbClr val="F7F5EE"/>
                </a:solidFill>
                <a:latin typeface="Calibri" pitchFamily="34" charset="0"/>
                <a:ea typeface="Calibri" pitchFamily="34" charset="-122"/>
                <a:cs typeface="Calibri" pitchFamily="34" charset="-120"/>
              </a:rPr>
              <a:t>MONETIZE</a:t>
            </a:r>
            <a:endParaRPr lang="en-US" sz="3000" dirty="0"/>
          </a:p>
          <a:p>
            <a:pPr indent="0" marL="0">
              <a:buNone/>
            </a:pPr>
            <a:r>
              <a:rPr lang="en-US" sz="1300" dirty="0">
                <a:solidFill>
                  <a:srgbClr val="A3AAB3"/>
                </a:solidFill>
                <a:latin typeface="Calibri" pitchFamily="34" charset="0"/>
                <a:ea typeface="Calibri" pitchFamily="34" charset="-122"/>
                <a:cs typeface="Calibri" pitchFamily="34" charset="-120"/>
              </a:rPr>
              <a:t>Capture value across ads, placement, and transactions.</a:t>
            </a:r>
            <a:endParaRPr lang="en-US" sz="3000" dirty="0"/>
          </a:p>
        </p:txBody>
      </p:sp>
      <p:sp>
        <p:nvSpPr>
          <p:cNvPr id="20" name="Text 18"/>
          <p:cNvSpPr/>
          <p:nvPr/>
        </p:nvSpPr>
        <p:spPr>
          <a:xfrm>
            <a:off x="457200" y="5394960"/>
            <a:ext cx="11247120" cy="548640"/>
          </a:xfrm>
          <a:prstGeom prst="rect">
            <a:avLst/>
          </a:prstGeom>
          <a:noFill/>
          <a:ln/>
        </p:spPr>
        <p:txBody>
          <a:bodyPr wrap="square" lIns="0" tIns="0" rIns="0" bIns="0" rtlCol="0" anchor="ctr"/>
          <a:lstStyle/>
          <a:p>
            <a:pPr indent="0" marL="0">
              <a:buNone/>
            </a:pPr>
            <a:r>
              <a:rPr lang="en-US" sz="2000" i="1" dirty="0">
                <a:solidFill>
                  <a:srgbClr val="F7F5EE"/>
                </a:solidFill>
                <a:latin typeface="Georgia" pitchFamily="34" charset="0"/>
                <a:ea typeface="Georgia" pitchFamily="34" charset="-122"/>
                <a:cs typeface="Georgia" pitchFamily="34" charset="-120"/>
              </a:rPr>
              <a:t>Capital follows proof. Users follow inventory. Revenue follows repeated intent.</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1A24"/>
        </a:solidFill>
      </p:bgPr>
    </p:bg>
    <p:spTree>
      <p:nvGrpSpPr>
        <p:cNvPr id="1" name=""/>
        <p:cNvGrpSpPr/>
        <p:nvPr/>
      </p:nvGrpSpPr>
      <p:grpSpPr>
        <a:xfrm>
          <a:off x="0" y="0"/>
          <a:ext cx="0" cy="0"/>
          <a:chOff x="0" y="0"/>
          <a:chExt cx="0" cy="0"/>
        </a:xfrm>
      </p:grpSpPr>
      <p:sp>
        <p:nvSpPr>
          <p:cNvPr id="2" name="Shape 0"/>
          <p:cNvSpPr/>
          <p:nvPr/>
        </p:nvSpPr>
        <p:spPr>
          <a:xfrm>
            <a:off x="457200" y="320040"/>
            <a:ext cx="292608" cy="292608"/>
          </a:xfrm>
          <a:prstGeom prst="rect">
            <a:avLst/>
          </a:prstGeom>
          <a:solidFill>
            <a:srgbClr val="E3B33B"/>
          </a:solidFill>
          <a:ln/>
        </p:spPr>
      </p:sp>
      <p:sp>
        <p:nvSpPr>
          <p:cNvPr id="3" name="Text 1"/>
          <p:cNvSpPr/>
          <p:nvPr/>
        </p:nvSpPr>
        <p:spPr>
          <a:xfrm>
            <a:off x="457200" y="320040"/>
            <a:ext cx="292608" cy="292608"/>
          </a:xfrm>
          <a:prstGeom prst="rect">
            <a:avLst/>
          </a:prstGeom>
          <a:noFill/>
          <a:ln/>
        </p:spPr>
        <p:txBody>
          <a:bodyPr wrap="square" lIns="0" tIns="0" rIns="0" bIns="0" rtlCol="0" anchor="ctr"/>
          <a:lstStyle/>
          <a:p>
            <a:pPr algn="ctr" indent="0" marL="0">
              <a:buNone/>
            </a:pPr>
            <a:r>
              <a:rPr lang="en-US" sz="1300" b="1" dirty="0">
                <a:solidFill>
                  <a:srgbClr val="101A24"/>
                </a:solidFill>
                <a:latin typeface="Georgia" pitchFamily="34" charset="0"/>
                <a:ea typeface="Georgia" pitchFamily="34" charset="-122"/>
                <a:cs typeface="Georgia" pitchFamily="34" charset="-120"/>
              </a:rPr>
              <a:t>L</a:t>
            </a:r>
            <a:endParaRPr lang="en-US" sz="1300" dirty="0"/>
          </a:p>
        </p:txBody>
      </p:sp>
      <p:sp>
        <p:nvSpPr>
          <p:cNvPr id="4" name="Text 2"/>
          <p:cNvSpPr/>
          <p:nvPr/>
        </p:nvSpPr>
        <p:spPr>
          <a:xfrm>
            <a:off x="868680" y="320040"/>
            <a:ext cx="5486400" cy="292608"/>
          </a:xfrm>
          <a:prstGeom prst="rect">
            <a:avLst/>
          </a:prstGeom>
          <a:noFill/>
          <a:ln/>
        </p:spPr>
        <p:txBody>
          <a:bodyPr wrap="square" lIns="0" tIns="0" rIns="0" bIns="0" rtlCol="0" anchor="ctr"/>
          <a:lstStyle/>
          <a:p>
            <a:pPr indent="0" marL="0">
              <a:buNone/>
            </a:pPr>
            <a:r>
              <a:rPr lang="en-US" sz="1100" spc="200" kern="0" dirty="0">
                <a:solidFill>
                  <a:srgbClr val="A3AAB3"/>
                </a:solidFill>
                <a:latin typeface="Calibri" pitchFamily="34" charset="0"/>
                <a:ea typeface="Calibri" pitchFamily="34" charset="-122"/>
                <a:cs typeface="Calibri" pitchFamily="34" charset="-120"/>
              </a:rPr>
              <a:t>LIIVRR / STRATEGIC EXECUTION</a:t>
            </a:r>
            <a:endParaRPr lang="en-US" sz="1100" dirty="0"/>
          </a:p>
        </p:txBody>
      </p:sp>
      <p:sp>
        <p:nvSpPr>
          <p:cNvPr id="5" name="Shape 3"/>
          <p:cNvSpPr/>
          <p:nvPr/>
        </p:nvSpPr>
        <p:spPr>
          <a:xfrm>
            <a:off x="457200" y="6400800"/>
            <a:ext cx="11274552" cy="0"/>
          </a:xfrm>
          <a:prstGeom prst="line">
            <a:avLst/>
          </a:prstGeom>
          <a:noFill/>
          <a:ln w="9525">
            <a:solidFill>
              <a:srgbClr val="3E4852"/>
            </a:solidFill>
            <a:prstDash val="solid"/>
          </a:ln>
        </p:spPr>
      </p:sp>
      <p:sp>
        <p:nvSpPr>
          <p:cNvPr id="6" name="Text 4"/>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spc="200" kern="0" dirty="0">
                <a:solidFill>
                  <a:srgbClr val="A3AAB3"/>
                </a:solidFill>
                <a:latin typeface="Calibri" pitchFamily="34" charset="0"/>
                <a:ea typeface="Calibri" pitchFamily="34" charset="-122"/>
                <a:cs typeface="Calibri" pitchFamily="34" charset="-120"/>
              </a:rPr>
              <a:t>COO / BD OPERATIONAL ROADMAP</a:t>
            </a:r>
            <a:endParaRPr lang="en-US" sz="1000" dirty="0"/>
          </a:p>
        </p:txBody>
      </p:sp>
      <p:sp>
        <p:nvSpPr>
          <p:cNvPr id="7" name="Text 5"/>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E3B33B"/>
                </a:solidFill>
                <a:latin typeface="Calibri" pitchFamily="34" charset="0"/>
                <a:ea typeface="Calibri" pitchFamily="34" charset="-122"/>
                <a:cs typeface="Calibri" pitchFamily="34" charset="-120"/>
              </a:rPr>
              <a:t>04</a:t>
            </a:r>
            <a:endParaRPr lang="en-US" sz="1000" dirty="0"/>
          </a:p>
        </p:txBody>
      </p:sp>
      <p:sp>
        <p:nvSpPr>
          <p:cNvPr id="8" name="Text 6"/>
          <p:cNvSpPr/>
          <p:nvPr/>
        </p:nvSpPr>
        <p:spPr>
          <a:xfrm>
            <a:off x="457200" y="868680"/>
            <a:ext cx="10972800" cy="320040"/>
          </a:xfrm>
          <a:prstGeom prst="rect">
            <a:avLst/>
          </a:prstGeom>
          <a:noFill/>
          <a:ln/>
        </p:spPr>
        <p:txBody>
          <a:bodyPr wrap="square" lIns="0" tIns="0" rIns="0" bIns="0" rtlCol="0" anchor="ctr"/>
          <a:lstStyle/>
          <a:p>
            <a:pPr indent="0" marL="0">
              <a:buNone/>
            </a:pPr>
            <a:r>
              <a:rPr lang="en-US" sz="1300" b="1" spc="300" kern="0" dirty="0">
                <a:solidFill>
                  <a:srgbClr val="E3B33B"/>
                </a:solidFill>
                <a:latin typeface="Calibri" pitchFamily="34" charset="0"/>
                <a:ea typeface="Calibri" pitchFamily="34" charset="-122"/>
                <a:cs typeface="Calibri" pitchFamily="34" charset="-120"/>
              </a:rPr>
              <a:t>90-DAY OPERATING ARC</a:t>
            </a:r>
            <a:endParaRPr lang="en-US" sz="1300" dirty="0"/>
          </a:p>
        </p:txBody>
      </p:sp>
      <p:sp>
        <p:nvSpPr>
          <p:cNvPr id="9" name="Text 7"/>
          <p:cNvSpPr/>
          <p:nvPr/>
        </p:nvSpPr>
        <p:spPr>
          <a:xfrm>
            <a:off x="457200" y="1188720"/>
            <a:ext cx="10972800" cy="731520"/>
          </a:xfrm>
          <a:prstGeom prst="rect">
            <a:avLst/>
          </a:prstGeom>
          <a:noFill/>
          <a:ln/>
        </p:spPr>
        <p:txBody>
          <a:bodyPr wrap="square" lIns="0" tIns="0" rIns="0" bIns="0" rtlCol="0" anchor="ctr"/>
          <a:lstStyle/>
          <a:p>
            <a:pPr indent="0" marL="0">
              <a:buNone/>
            </a:pPr>
            <a:r>
              <a:rPr lang="en-US" sz="3800" b="1" dirty="0">
                <a:solidFill>
                  <a:srgbClr val="F7F5EE"/>
                </a:solidFill>
                <a:latin typeface="Georgia" pitchFamily="34" charset="0"/>
                <a:ea typeface="Georgia" pitchFamily="34" charset="-122"/>
                <a:cs typeface="Georgia" pitchFamily="34" charset="-120"/>
              </a:rPr>
              <a:t>Five phases. One compounding system.</a:t>
            </a:r>
            <a:endParaRPr lang="en-US" sz="3800" dirty="0"/>
          </a:p>
        </p:txBody>
      </p:sp>
      <p:sp>
        <p:nvSpPr>
          <p:cNvPr id="10" name="Shape 8"/>
          <p:cNvSpPr/>
          <p:nvPr/>
        </p:nvSpPr>
        <p:spPr>
          <a:xfrm>
            <a:off x="822960" y="2743200"/>
            <a:ext cx="9144000" cy="0"/>
          </a:xfrm>
          <a:prstGeom prst="line">
            <a:avLst/>
          </a:prstGeom>
          <a:noFill/>
          <a:ln w="19050">
            <a:solidFill>
              <a:srgbClr val="E3B33B"/>
            </a:solidFill>
            <a:prstDash val="solid"/>
          </a:ln>
        </p:spPr>
      </p:sp>
      <p:sp>
        <p:nvSpPr>
          <p:cNvPr id="11" name="Shape 9"/>
          <p:cNvSpPr/>
          <p:nvPr/>
        </p:nvSpPr>
        <p:spPr>
          <a:xfrm>
            <a:off x="502920" y="2377440"/>
            <a:ext cx="731520" cy="731520"/>
          </a:xfrm>
          <a:prstGeom prst="ellipse">
            <a:avLst/>
          </a:prstGeom>
          <a:solidFill>
            <a:srgbClr val="E3B33B"/>
          </a:solidFill>
          <a:ln w="12700">
            <a:solidFill>
              <a:srgbClr val="E3B33B"/>
            </a:solidFill>
            <a:prstDash val="solid"/>
          </a:ln>
        </p:spPr>
      </p:sp>
      <p:sp>
        <p:nvSpPr>
          <p:cNvPr id="12" name="Text 10"/>
          <p:cNvSpPr/>
          <p:nvPr/>
        </p:nvSpPr>
        <p:spPr>
          <a:xfrm>
            <a:off x="502920" y="2377440"/>
            <a:ext cx="731520" cy="731520"/>
          </a:xfrm>
          <a:prstGeom prst="rect">
            <a:avLst/>
          </a:prstGeom>
          <a:noFill/>
          <a:ln/>
        </p:spPr>
        <p:txBody>
          <a:bodyPr wrap="square" lIns="0" tIns="0" rIns="0" bIns="0" rtlCol="0" anchor="ctr"/>
          <a:lstStyle/>
          <a:p>
            <a:pPr algn="ctr" indent="0" marL="0">
              <a:buNone/>
            </a:pPr>
            <a:r>
              <a:rPr lang="en-US" sz="1600" b="1" dirty="0">
                <a:solidFill>
                  <a:srgbClr val="101A24"/>
                </a:solidFill>
                <a:latin typeface="Georgia" pitchFamily="34" charset="0"/>
                <a:ea typeface="Georgia" pitchFamily="34" charset="-122"/>
                <a:cs typeface="Georgia" pitchFamily="34" charset="-120"/>
              </a:rPr>
              <a:t>01</a:t>
            </a:r>
            <a:endParaRPr lang="en-US" sz="1600" dirty="0"/>
          </a:p>
        </p:txBody>
      </p:sp>
      <p:sp>
        <p:nvSpPr>
          <p:cNvPr id="13" name="Text 11"/>
          <p:cNvSpPr/>
          <p:nvPr/>
        </p:nvSpPr>
        <p:spPr>
          <a:xfrm>
            <a:off x="457200" y="3383280"/>
            <a:ext cx="2103120" cy="1828800"/>
          </a:xfrm>
          <a:prstGeom prst="rect">
            <a:avLst/>
          </a:prstGeom>
          <a:noFill/>
          <a:ln/>
        </p:spPr>
        <p:txBody>
          <a:bodyPr wrap="square" lIns="0" tIns="0" rIns="0" bIns="0" rtlCol="0" anchor="t"/>
          <a:lstStyle/>
          <a:p>
            <a:pPr indent="0" marL="0">
              <a:buNone/>
            </a:pPr>
            <a:r>
              <a:rPr lang="en-US" sz="1100" b="1" spc="200" kern="0" dirty="0">
                <a:solidFill>
                  <a:srgbClr val="E3B33B"/>
                </a:solidFill>
                <a:latin typeface="Calibri" pitchFamily="34" charset="0"/>
                <a:ea typeface="Calibri" pitchFamily="34" charset="-122"/>
                <a:cs typeface="Calibri" pitchFamily="34" charset="-120"/>
              </a:rPr>
              <a:t>DAYS 1–15</a:t>
            </a:r>
            <a:endParaRPr lang="en-US" sz="1100" dirty="0"/>
          </a:p>
          <a:p>
            <a:pPr indent="0" marL="0">
              <a:buNone/>
            </a:pPr>
            <a:r>
              <a:rPr lang="en-US" sz="1800" b="1" dirty="0">
                <a:solidFill>
                  <a:srgbClr val="F7F5EE"/>
                </a:solidFill>
                <a:latin typeface="Georgia" pitchFamily="34" charset="0"/>
                <a:ea typeface="Georgia" pitchFamily="34" charset="-122"/>
                <a:cs typeface="Georgia" pitchFamily="34" charset="-120"/>
              </a:rPr>
              <a:t>Infrastructure</a:t>
            </a:r>
            <a:endParaRPr lang="en-US" sz="1100" dirty="0"/>
          </a:p>
          <a:p>
            <a:pPr indent="0" marL="0">
              <a:buNone/>
            </a:pPr>
            <a:r>
              <a:rPr lang="en-US" sz="1300" dirty="0">
                <a:solidFill>
                  <a:srgbClr val="A3AAB3"/>
                </a:solidFill>
                <a:latin typeface="Calibri" pitchFamily="34" charset="0"/>
                <a:ea typeface="Calibri" pitchFamily="34" charset="-122"/>
                <a:cs typeface="Calibri" pitchFamily="34" charset="-120"/>
              </a:rPr>
              <a:t>Prove contracts, wallets, and ecosystem fit.</a:t>
            </a:r>
            <a:endParaRPr lang="en-US" sz="1100" dirty="0"/>
          </a:p>
        </p:txBody>
      </p:sp>
      <p:sp>
        <p:nvSpPr>
          <p:cNvPr id="14" name="Shape 12"/>
          <p:cNvSpPr/>
          <p:nvPr/>
        </p:nvSpPr>
        <p:spPr>
          <a:xfrm>
            <a:off x="2788920" y="2377440"/>
            <a:ext cx="731520" cy="731520"/>
          </a:xfrm>
          <a:prstGeom prst="ellipse">
            <a:avLst/>
          </a:prstGeom>
          <a:solidFill>
            <a:srgbClr val="E3B33B"/>
          </a:solidFill>
          <a:ln w="12700">
            <a:solidFill>
              <a:srgbClr val="E3B33B"/>
            </a:solidFill>
            <a:prstDash val="solid"/>
          </a:ln>
        </p:spPr>
      </p:sp>
      <p:sp>
        <p:nvSpPr>
          <p:cNvPr id="15" name="Text 13"/>
          <p:cNvSpPr/>
          <p:nvPr/>
        </p:nvSpPr>
        <p:spPr>
          <a:xfrm>
            <a:off x="2788920" y="2377440"/>
            <a:ext cx="731520" cy="731520"/>
          </a:xfrm>
          <a:prstGeom prst="rect">
            <a:avLst/>
          </a:prstGeom>
          <a:noFill/>
          <a:ln/>
        </p:spPr>
        <p:txBody>
          <a:bodyPr wrap="square" lIns="0" tIns="0" rIns="0" bIns="0" rtlCol="0" anchor="ctr"/>
          <a:lstStyle/>
          <a:p>
            <a:pPr algn="ctr" indent="0" marL="0">
              <a:buNone/>
            </a:pPr>
            <a:r>
              <a:rPr lang="en-US" sz="1600" b="1" dirty="0">
                <a:solidFill>
                  <a:srgbClr val="101A24"/>
                </a:solidFill>
                <a:latin typeface="Georgia" pitchFamily="34" charset="0"/>
                <a:ea typeface="Georgia" pitchFamily="34" charset="-122"/>
                <a:cs typeface="Georgia" pitchFamily="34" charset="-120"/>
              </a:rPr>
              <a:t>02</a:t>
            </a:r>
            <a:endParaRPr lang="en-US" sz="1600" dirty="0"/>
          </a:p>
        </p:txBody>
      </p:sp>
      <p:sp>
        <p:nvSpPr>
          <p:cNvPr id="16" name="Text 14"/>
          <p:cNvSpPr/>
          <p:nvPr/>
        </p:nvSpPr>
        <p:spPr>
          <a:xfrm>
            <a:off x="2743200" y="3383280"/>
            <a:ext cx="2103120" cy="1828800"/>
          </a:xfrm>
          <a:prstGeom prst="rect">
            <a:avLst/>
          </a:prstGeom>
          <a:noFill/>
          <a:ln/>
        </p:spPr>
        <p:txBody>
          <a:bodyPr wrap="square" lIns="0" tIns="0" rIns="0" bIns="0" rtlCol="0" anchor="t"/>
          <a:lstStyle/>
          <a:p>
            <a:pPr indent="0" marL="0">
              <a:buNone/>
            </a:pPr>
            <a:r>
              <a:rPr lang="en-US" sz="1100" b="1" spc="200" kern="0" dirty="0">
                <a:solidFill>
                  <a:srgbClr val="E3B33B"/>
                </a:solidFill>
                <a:latin typeface="Calibri" pitchFamily="34" charset="0"/>
                <a:ea typeface="Calibri" pitchFamily="34" charset="-122"/>
                <a:cs typeface="Calibri" pitchFamily="34" charset="-120"/>
              </a:rPr>
              <a:t>DAYS 16–30</a:t>
            </a:r>
            <a:endParaRPr lang="en-US" sz="1100" dirty="0"/>
          </a:p>
          <a:p>
            <a:pPr indent="0" marL="0">
              <a:buNone/>
            </a:pPr>
            <a:r>
              <a:rPr lang="en-US" sz="1800" b="1" dirty="0">
                <a:solidFill>
                  <a:srgbClr val="F7F5EE"/>
                </a:solidFill>
                <a:latin typeface="Georgia" pitchFamily="34" charset="0"/>
                <a:ea typeface="Georgia" pitchFamily="34" charset="-122"/>
                <a:cs typeface="Georgia" pitchFamily="34" charset="-120"/>
              </a:rPr>
              <a:t>Institutional capital</a:t>
            </a:r>
            <a:endParaRPr lang="en-US" sz="1100" dirty="0"/>
          </a:p>
          <a:p>
            <a:pPr indent="0" marL="0">
              <a:buNone/>
            </a:pPr>
            <a:r>
              <a:rPr lang="en-US" sz="1300" dirty="0">
                <a:solidFill>
                  <a:srgbClr val="A3AAB3"/>
                </a:solidFill>
                <a:latin typeface="Calibri" pitchFamily="34" charset="0"/>
                <a:ea typeface="Calibri" pitchFamily="34" charset="-122"/>
                <a:cs typeface="Calibri" pitchFamily="34" charset="-120"/>
              </a:rPr>
              <a:t>Tie grant releases to measurable traction.</a:t>
            </a:r>
            <a:endParaRPr lang="en-US" sz="1100" dirty="0"/>
          </a:p>
        </p:txBody>
      </p:sp>
      <p:sp>
        <p:nvSpPr>
          <p:cNvPr id="17" name="Shape 15"/>
          <p:cNvSpPr/>
          <p:nvPr/>
        </p:nvSpPr>
        <p:spPr>
          <a:xfrm>
            <a:off x="5074920" y="2377440"/>
            <a:ext cx="731520" cy="731520"/>
          </a:xfrm>
          <a:prstGeom prst="ellipse">
            <a:avLst/>
          </a:prstGeom>
          <a:solidFill>
            <a:srgbClr val="E3B33B"/>
          </a:solidFill>
          <a:ln w="12700">
            <a:solidFill>
              <a:srgbClr val="E3B33B"/>
            </a:solidFill>
            <a:prstDash val="solid"/>
          </a:ln>
        </p:spPr>
      </p:sp>
      <p:sp>
        <p:nvSpPr>
          <p:cNvPr id="18" name="Text 16"/>
          <p:cNvSpPr/>
          <p:nvPr/>
        </p:nvSpPr>
        <p:spPr>
          <a:xfrm>
            <a:off x="5074920" y="2377440"/>
            <a:ext cx="731520" cy="731520"/>
          </a:xfrm>
          <a:prstGeom prst="rect">
            <a:avLst/>
          </a:prstGeom>
          <a:noFill/>
          <a:ln/>
        </p:spPr>
        <p:txBody>
          <a:bodyPr wrap="square" lIns="0" tIns="0" rIns="0" bIns="0" rtlCol="0" anchor="ctr"/>
          <a:lstStyle/>
          <a:p>
            <a:pPr algn="ctr" indent="0" marL="0">
              <a:buNone/>
            </a:pPr>
            <a:r>
              <a:rPr lang="en-US" sz="1600" b="1" dirty="0">
                <a:solidFill>
                  <a:srgbClr val="101A24"/>
                </a:solidFill>
                <a:latin typeface="Georgia" pitchFamily="34" charset="0"/>
                <a:ea typeface="Georgia" pitchFamily="34" charset="-122"/>
                <a:cs typeface="Georgia" pitchFamily="34" charset="-120"/>
              </a:rPr>
              <a:t>03</a:t>
            </a:r>
            <a:endParaRPr lang="en-US" sz="1600" dirty="0"/>
          </a:p>
        </p:txBody>
      </p:sp>
      <p:sp>
        <p:nvSpPr>
          <p:cNvPr id="19" name="Text 17"/>
          <p:cNvSpPr/>
          <p:nvPr/>
        </p:nvSpPr>
        <p:spPr>
          <a:xfrm>
            <a:off x="5029200" y="3383280"/>
            <a:ext cx="2103120" cy="1828800"/>
          </a:xfrm>
          <a:prstGeom prst="rect">
            <a:avLst/>
          </a:prstGeom>
          <a:noFill/>
          <a:ln/>
        </p:spPr>
        <p:txBody>
          <a:bodyPr wrap="square" lIns="0" tIns="0" rIns="0" bIns="0" rtlCol="0" anchor="t"/>
          <a:lstStyle/>
          <a:p>
            <a:pPr indent="0" marL="0">
              <a:buNone/>
            </a:pPr>
            <a:r>
              <a:rPr lang="en-US" sz="1100" b="1" spc="200" kern="0" dirty="0">
                <a:solidFill>
                  <a:srgbClr val="E3B33B"/>
                </a:solidFill>
                <a:latin typeface="Calibri" pitchFamily="34" charset="0"/>
                <a:ea typeface="Calibri" pitchFamily="34" charset="-122"/>
                <a:cs typeface="Calibri" pitchFamily="34" charset="-120"/>
              </a:rPr>
              <a:t>DAYS 31–45</a:t>
            </a:r>
            <a:endParaRPr lang="en-US" sz="1100" dirty="0"/>
          </a:p>
          <a:p>
            <a:pPr indent="0" marL="0">
              <a:buNone/>
            </a:pPr>
            <a:r>
              <a:rPr lang="en-US" sz="1800" b="1" dirty="0">
                <a:solidFill>
                  <a:srgbClr val="F7F5EE"/>
                </a:solidFill>
                <a:latin typeface="Georgia" pitchFamily="34" charset="0"/>
                <a:ea typeface="Georgia" pitchFamily="34" charset="-122"/>
                <a:cs typeface="Georgia" pitchFamily="34" charset="-120"/>
              </a:rPr>
              <a:t>Campus pilot</a:t>
            </a:r>
            <a:endParaRPr lang="en-US" sz="1100" dirty="0"/>
          </a:p>
          <a:p>
            <a:pPr indent="0" marL="0">
              <a:buNone/>
            </a:pPr>
            <a:r>
              <a:rPr lang="en-US" sz="1300" dirty="0">
                <a:solidFill>
                  <a:srgbClr val="A3AAB3"/>
                </a:solidFill>
                <a:latin typeface="Calibri" pitchFamily="34" charset="0"/>
                <a:ea typeface="Calibri" pitchFamily="34" charset="-122"/>
                <a:cs typeface="Calibri" pitchFamily="34" charset="-120"/>
              </a:rPr>
              <a:t>Concentrate tenants and users locally.</a:t>
            </a:r>
            <a:endParaRPr lang="en-US" sz="1100" dirty="0"/>
          </a:p>
        </p:txBody>
      </p:sp>
      <p:sp>
        <p:nvSpPr>
          <p:cNvPr id="20" name="Shape 18"/>
          <p:cNvSpPr/>
          <p:nvPr/>
        </p:nvSpPr>
        <p:spPr>
          <a:xfrm>
            <a:off x="7360920" y="2377440"/>
            <a:ext cx="731520" cy="731520"/>
          </a:xfrm>
          <a:prstGeom prst="ellipse">
            <a:avLst/>
          </a:prstGeom>
          <a:solidFill>
            <a:srgbClr val="E3B33B"/>
          </a:solidFill>
          <a:ln w="12700">
            <a:solidFill>
              <a:srgbClr val="E3B33B"/>
            </a:solidFill>
            <a:prstDash val="solid"/>
          </a:ln>
        </p:spPr>
      </p:sp>
      <p:sp>
        <p:nvSpPr>
          <p:cNvPr id="21" name="Text 19"/>
          <p:cNvSpPr/>
          <p:nvPr/>
        </p:nvSpPr>
        <p:spPr>
          <a:xfrm>
            <a:off x="7360920" y="2377440"/>
            <a:ext cx="731520" cy="731520"/>
          </a:xfrm>
          <a:prstGeom prst="rect">
            <a:avLst/>
          </a:prstGeom>
          <a:noFill/>
          <a:ln/>
        </p:spPr>
        <p:txBody>
          <a:bodyPr wrap="square" lIns="0" tIns="0" rIns="0" bIns="0" rtlCol="0" anchor="ctr"/>
          <a:lstStyle/>
          <a:p>
            <a:pPr algn="ctr" indent="0" marL="0">
              <a:buNone/>
            </a:pPr>
            <a:r>
              <a:rPr lang="en-US" sz="1600" b="1" dirty="0">
                <a:solidFill>
                  <a:srgbClr val="101A24"/>
                </a:solidFill>
                <a:latin typeface="Georgia" pitchFamily="34" charset="0"/>
                <a:ea typeface="Georgia" pitchFamily="34" charset="-122"/>
                <a:cs typeface="Georgia" pitchFamily="34" charset="-120"/>
              </a:rPr>
              <a:t>04</a:t>
            </a:r>
            <a:endParaRPr lang="en-US" sz="1600" dirty="0"/>
          </a:p>
        </p:txBody>
      </p:sp>
      <p:sp>
        <p:nvSpPr>
          <p:cNvPr id="22" name="Text 20"/>
          <p:cNvSpPr/>
          <p:nvPr/>
        </p:nvSpPr>
        <p:spPr>
          <a:xfrm>
            <a:off x="7315200" y="3383280"/>
            <a:ext cx="2103120" cy="1828800"/>
          </a:xfrm>
          <a:prstGeom prst="rect">
            <a:avLst/>
          </a:prstGeom>
          <a:noFill/>
          <a:ln/>
        </p:spPr>
        <p:txBody>
          <a:bodyPr wrap="square" lIns="0" tIns="0" rIns="0" bIns="0" rtlCol="0" anchor="t"/>
          <a:lstStyle/>
          <a:p>
            <a:pPr indent="0" marL="0">
              <a:buNone/>
            </a:pPr>
            <a:r>
              <a:rPr lang="en-US" sz="1100" b="1" spc="200" kern="0" dirty="0">
                <a:solidFill>
                  <a:srgbClr val="E3B33B"/>
                </a:solidFill>
                <a:latin typeface="Calibri" pitchFamily="34" charset="0"/>
                <a:ea typeface="Calibri" pitchFamily="34" charset="-122"/>
                <a:cs typeface="Calibri" pitchFamily="34" charset="-120"/>
              </a:rPr>
              <a:t>DAYS 46–60</a:t>
            </a:r>
            <a:endParaRPr lang="en-US" sz="1100" dirty="0"/>
          </a:p>
          <a:p>
            <a:pPr indent="0" marL="0">
              <a:buNone/>
            </a:pPr>
            <a:r>
              <a:rPr lang="en-US" sz="1800" b="1" dirty="0">
                <a:solidFill>
                  <a:srgbClr val="F7F5EE"/>
                </a:solidFill>
                <a:latin typeface="Georgia" pitchFamily="34" charset="0"/>
                <a:ea typeface="Georgia" pitchFamily="34" charset="-122"/>
                <a:cs typeface="Georgia" pitchFamily="34" charset="-120"/>
              </a:rPr>
              <a:t>AI concierge</a:t>
            </a:r>
            <a:endParaRPr lang="en-US" sz="1100" dirty="0"/>
          </a:p>
          <a:p>
            <a:pPr indent="0" marL="0">
              <a:buNone/>
            </a:pPr>
            <a:r>
              <a:rPr lang="en-US" sz="1300" dirty="0">
                <a:solidFill>
                  <a:srgbClr val="A3AAB3"/>
                </a:solidFill>
                <a:latin typeface="Calibri" pitchFamily="34" charset="0"/>
                <a:ea typeface="Calibri" pitchFamily="34" charset="-122"/>
                <a:cs typeface="Calibri" pitchFamily="34" charset="-120"/>
              </a:rPr>
              <a:t>Convert intent directly into bookings.</a:t>
            </a:r>
            <a:endParaRPr lang="en-US" sz="1100" dirty="0"/>
          </a:p>
        </p:txBody>
      </p:sp>
      <p:sp>
        <p:nvSpPr>
          <p:cNvPr id="23" name="Shape 21"/>
          <p:cNvSpPr/>
          <p:nvPr/>
        </p:nvSpPr>
        <p:spPr>
          <a:xfrm>
            <a:off x="9646920" y="2377440"/>
            <a:ext cx="731520" cy="731520"/>
          </a:xfrm>
          <a:prstGeom prst="ellipse">
            <a:avLst/>
          </a:prstGeom>
          <a:solidFill>
            <a:srgbClr val="E3B33B"/>
          </a:solidFill>
          <a:ln w="12700">
            <a:solidFill>
              <a:srgbClr val="E3B33B"/>
            </a:solidFill>
            <a:prstDash val="solid"/>
          </a:ln>
        </p:spPr>
      </p:sp>
      <p:sp>
        <p:nvSpPr>
          <p:cNvPr id="24" name="Text 22"/>
          <p:cNvSpPr/>
          <p:nvPr/>
        </p:nvSpPr>
        <p:spPr>
          <a:xfrm>
            <a:off x="9646920" y="2377440"/>
            <a:ext cx="731520" cy="731520"/>
          </a:xfrm>
          <a:prstGeom prst="rect">
            <a:avLst/>
          </a:prstGeom>
          <a:noFill/>
          <a:ln/>
        </p:spPr>
        <p:txBody>
          <a:bodyPr wrap="square" lIns="0" tIns="0" rIns="0" bIns="0" rtlCol="0" anchor="ctr"/>
          <a:lstStyle/>
          <a:p>
            <a:pPr algn="ctr" indent="0" marL="0">
              <a:buNone/>
            </a:pPr>
            <a:r>
              <a:rPr lang="en-US" sz="1600" b="1" dirty="0">
                <a:solidFill>
                  <a:srgbClr val="101A24"/>
                </a:solidFill>
                <a:latin typeface="Georgia" pitchFamily="34" charset="0"/>
                <a:ea typeface="Georgia" pitchFamily="34" charset="-122"/>
                <a:cs typeface="Georgia" pitchFamily="34" charset="-120"/>
              </a:rPr>
              <a:t>05</a:t>
            </a:r>
            <a:endParaRPr lang="en-US" sz="1600" dirty="0"/>
          </a:p>
        </p:txBody>
      </p:sp>
      <p:sp>
        <p:nvSpPr>
          <p:cNvPr id="25" name="Text 23"/>
          <p:cNvSpPr/>
          <p:nvPr/>
        </p:nvSpPr>
        <p:spPr>
          <a:xfrm>
            <a:off x="9601200" y="3383280"/>
            <a:ext cx="2103120" cy="1828800"/>
          </a:xfrm>
          <a:prstGeom prst="rect">
            <a:avLst/>
          </a:prstGeom>
          <a:noFill/>
          <a:ln/>
        </p:spPr>
        <p:txBody>
          <a:bodyPr wrap="square" lIns="0" tIns="0" rIns="0" bIns="0" rtlCol="0" anchor="t"/>
          <a:lstStyle/>
          <a:p>
            <a:pPr indent="0" marL="0">
              <a:buNone/>
            </a:pPr>
            <a:r>
              <a:rPr lang="en-US" sz="1100" b="1" spc="200" kern="0" dirty="0">
                <a:solidFill>
                  <a:srgbClr val="E3B33B"/>
                </a:solidFill>
                <a:latin typeface="Calibri" pitchFamily="34" charset="0"/>
                <a:ea typeface="Calibri" pitchFamily="34" charset="-122"/>
                <a:cs typeface="Calibri" pitchFamily="34" charset="-120"/>
              </a:rPr>
              <a:t>DEC 2026+</a:t>
            </a:r>
            <a:endParaRPr lang="en-US" sz="1100" dirty="0"/>
          </a:p>
          <a:p>
            <a:pPr indent="0" marL="0">
              <a:buNone/>
            </a:pPr>
            <a:r>
              <a:rPr lang="en-US" sz="1800" b="1" dirty="0">
                <a:solidFill>
                  <a:srgbClr val="F7F5EE"/>
                </a:solidFill>
                <a:latin typeface="Georgia" pitchFamily="34" charset="0"/>
                <a:ea typeface="Georgia" pitchFamily="34" charset="-122"/>
                <a:cs typeface="Georgia" pitchFamily="34" charset="-120"/>
              </a:rPr>
              <a:t>Monetization</a:t>
            </a:r>
            <a:endParaRPr lang="en-US" sz="1100" dirty="0"/>
          </a:p>
          <a:p>
            <a:pPr indent="0" marL="0">
              <a:buNone/>
            </a:pPr>
            <a:r>
              <a:rPr lang="en-US" sz="1300" dirty="0">
                <a:solidFill>
                  <a:srgbClr val="A3AAB3"/>
                </a:solidFill>
                <a:latin typeface="Calibri" pitchFamily="34" charset="0"/>
                <a:ea typeface="Calibri" pitchFamily="34" charset="-122"/>
                <a:cs typeface="Calibri" pitchFamily="34" charset="-120"/>
              </a:rPr>
              <a:t>Layer revenue onto proven behavior.</a:t>
            </a:r>
            <a:endParaRPr lang="en-US" sz="1100" dirty="0"/>
          </a:p>
        </p:txBody>
      </p:sp>
      <p:sp>
        <p:nvSpPr>
          <p:cNvPr id="26" name="Shape 24"/>
          <p:cNvSpPr/>
          <p:nvPr/>
        </p:nvSpPr>
        <p:spPr>
          <a:xfrm>
            <a:off x="457200" y="5394960"/>
            <a:ext cx="11274552" cy="640080"/>
          </a:xfrm>
          <a:prstGeom prst="rect">
            <a:avLst/>
          </a:prstGeom>
          <a:solidFill>
            <a:srgbClr val="18242F"/>
          </a:solidFill>
          <a:ln w="9525">
            <a:solidFill>
              <a:srgbClr val="3E4852"/>
            </a:solidFill>
            <a:prstDash val="solid"/>
          </a:ln>
        </p:spPr>
      </p:sp>
      <p:sp>
        <p:nvSpPr>
          <p:cNvPr id="27" name="Text 25"/>
          <p:cNvSpPr/>
          <p:nvPr/>
        </p:nvSpPr>
        <p:spPr>
          <a:xfrm>
            <a:off x="685800" y="5394960"/>
            <a:ext cx="10972800" cy="640080"/>
          </a:xfrm>
          <a:prstGeom prst="rect">
            <a:avLst/>
          </a:prstGeom>
          <a:noFill/>
          <a:ln/>
        </p:spPr>
        <p:txBody>
          <a:bodyPr wrap="square" lIns="0" tIns="0" rIns="0" bIns="0" rtlCol="0" anchor="ctr"/>
          <a:lstStyle/>
          <a:p>
            <a:pPr indent="0" marL="0">
              <a:buNone/>
            </a:pPr>
            <a:r>
              <a:rPr lang="en-US" sz="1100" b="1" spc="200" kern="0" dirty="0">
                <a:solidFill>
                  <a:srgbClr val="E3B33B"/>
                </a:solidFill>
                <a:latin typeface="Calibri" pitchFamily="34" charset="0"/>
                <a:ea typeface="Calibri" pitchFamily="34" charset="-122"/>
                <a:cs typeface="Calibri" pitchFamily="34" charset="-120"/>
              </a:rPr>
              <a:t>OPERATING PRINCIPLE   </a:t>
            </a:r>
            <a:pPr indent="0" marL="0">
              <a:buNone/>
            </a:pPr>
            <a:r>
              <a:rPr lang="en-US" sz="1800" dirty="0">
                <a:solidFill>
                  <a:srgbClr val="F7F5EE"/>
                </a:solidFill>
                <a:latin typeface="Georgia" pitchFamily="34" charset="0"/>
                <a:ea typeface="Georgia" pitchFamily="34" charset="-122"/>
                <a:cs typeface="Georgia" pitchFamily="34" charset="-120"/>
              </a:rPr>
              <a:t>De-risk the next phase before increasing spend.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1A24"/>
        </a:solidFill>
      </p:bgPr>
    </p:bg>
    <p:spTree>
      <p:nvGrpSpPr>
        <p:cNvPr id="1" name=""/>
        <p:cNvGrpSpPr/>
        <p:nvPr/>
      </p:nvGrpSpPr>
      <p:grpSpPr>
        <a:xfrm>
          <a:off x="0" y="0"/>
          <a:ext cx="0" cy="0"/>
          <a:chOff x="0" y="0"/>
          <a:chExt cx="0" cy="0"/>
        </a:xfrm>
      </p:grpSpPr>
      <p:sp>
        <p:nvSpPr>
          <p:cNvPr id="2" name="Shape 0"/>
          <p:cNvSpPr/>
          <p:nvPr/>
        </p:nvSpPr>
        <p:spPr>
          <a:xfrm>
            <a:off x="457200" y="320040"/>
            <a:ext cx="292608" cy="292608"/>
          </a:xfrm>
          <a:prstGeom prst="rect">
            <a:avLst/>
          </a:prstGeom>
          <a:solidFill>
            <a:srgbClr val="E3B33B"/>
          </a:solidFill>
          <a:ln/>
        </p:spPr>
      </p:sp>
      <p:sp>
        <p:nvSpPr>
          <p:cNvPr id="3" name="Text 1"/>
          <p:cNvSpPr/>
          <p:nvPr/>
        </p:nvSpPr>
        <p:spPr>
          <a:xfrm>
            <a:off x="457200" y="320040"/>
            <a:ext cx="292608" cy="292608"/>
          </a:xfrm>
          <a:prstGeom prst="rect">
            <a:avLst/>
          </a:prstGeom>
          <a:noFill/>
          <a:ln/>
        </p:spPr>
        <p:txBody>
          <a:bodyPr wrap="square" lIns="0" tIns="0" rIns="0" bIns="0" rtlCol="0" anchor="ctr"/>
          <a:lstStyle/>
          <a:p>
            <a:pPr algn="ctr" indent="0" marL="0">
              <a:buNone/>
            </a:pPr>
            <a:r>
              <a:rPr lang="en-US" sz="1300" b="1" dirty="0">
                <a:solidFill>
                  <a:srgbClr val="101A24"/>
                </a:solidFill>
                <a:latin typeface="Georgia" pitchFamily="34" charset="0"/>
                <a:ea typeface="Georgia" pitchFamily="34" charset="-122"/>
                <a:cs typeface="Georgia" pitchFamily="34" charset="-120"/>
              </a:rPr>
              <a:t>L</a:t>
            </a:r>
            <a:endParaRPr lang="en-US" sz="1300" dirty="0"/>
          </a:p>
        </p:txBody>
      </p:sp>
      <p:sp>
        <p:nvSpPr>
          <p:cNvPr id="4" name="Text 2"/>
          <p:cNvSpPr/>
          <p:nvPr/>
        </p:nvSpPr>
        <p:spPr>
          <a:xfrm>
            <a:off x="868680" y="320040"/>
            <a:ext cx="5486400" cy="292608"/>
          </a:xfrm>
          <a:prstGeom prst="rect">
            <a:avLst/>
          </a:prstGeom>
          <a:noFill/>
          <a:ln/>
        </p:spPr>
        <p:txBody>
          <a:bodyPr wrap="square" lIns="0" tIns="0" rIns="0" bIns="0" rtlCol="0" anchor="ctr"/>
          <a:lstStyle/>
          <a:p>
            <a:pPr indent="0" marL="0">
              <a:buNone/>
            </a:pPr>
            <a:r>
              <a:rPr lang="en-US" sz="1100" spc="200" kern="0" dirty="0">
                <a:solidFill>
                  <a:srgbClr val="A3AAB3"/>
                </a:solidFill>
                <a:latin typeface="Calibri" pitchFamily="34" charset="0"/>
                <a:ea typeface="Calibri" pitchFamily="34" charset="-122"/>
                <a:cs typeface="Calibri" pitchFamily="34" charset="-120"/>
              </a:rPr>
              <a:t>LIIVRR / STRATEGIC EXECUTION</a:t>
            </a:r>
            <a:endParaRPr lang="en-US" sz="1100" dirty="0"/>
          </a:p>
        </p:txBody>
      </p:sp>
      <p:sp>
        <p:nvSpPr>
          <p:cNvPr id="5" name="Shape 3"/>
          <p:cNvSpPr/>
          <p:nvPr/>
        </p:nvSpPr>
        <p:spPr>
          <a:xfrm>
            <a:off x="457200" y="6400800"/>
            <a:ext cx="11274552" cy="0"/>
          </a:xfrm>
          <a:prstGeom prst="line">
            <a:avLst/>
          </a:prstGeom>
          <a:noFill/>
          <a:ln w="9525">
            <a:solidFill>
              <a:srgbClr val="3E4852"/>
            </a:solidFill>
            <a:prstDash val="solid"/>
          </a:ln>
        </p:spPr>
      </p:sp>
      <p:sp>
        <p:nvSpPr>
          <p:cNvPr id="6" name="Text 4"/>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spc="200" kern="0" dirty="0">
                <a:solidFill>
                  <a:srgbClr val="A3AAB3"/>
                </a:solidFill>
                <a:latin typeface="Calibri" pitchFamily="34" charset="0"/>
                <a:ea typeface="Calibri" pitchFamily="34" charset="-122"/>
                <a:cs typeface="Calibri" pitchFamily="34" charset="-120"/>
              </a:rPr>
              <a:t>COO / BD OPERATIONAL ROADMAP</a:t>
            </a:r>
            <a:endParaRPr lang="en-US" sz="1000" dirty="0"/>
          </a:p>
        </p:txBody>
      </p:sp>
      <p:sp>
        <p:nvSpPr>
          <p:cNvPr id="7" name="Text 5"/>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E3B33B"/>
                </a:solidFill>
                <a:latin typeface="Calibri" pitchFamily="34" charset="0"/>
                <a:ea typeface="Calibri" pitchFamily="34" charset="-122"/>
                <a:cs typeface="Calibri" pitchFamily="34" charset="-120"/>
              </a:rPr>
              <a:t>05</a:t>
            </a:r>
            <a:endParaRPr lang="en-US" sz="1000" dirty="0"/>
          </a:p>
        </p:txBody>
      </p:sp>
      <p:sp>
        <p:nvSpPr>
          <p:cNvPr id="8" name="Text 6"/>
          <p:cNvSpPr/>
          <p:nvPr/>
        </p:nvSpPr>
        <p:spPr>
          <a:xfrm>
            <a:off x="457200" y="822960"/>
            <a:ext cx="11247120" cy="822960"/>
          </a:xfrm>
          <a:prstGeom prst="rect">
            <a:avLst/>
          </a:prstGeom>
          <a:noFill/>
          <a:ln/>
        </p:spPr>
        <p:txBody>
          <a:bodyPr wrap="square" lIns="0" tIns="0" rIns="0" bIns="0" rtlCol="0" anchor="ctr"/>
          <a:lstStyle/>
          <a:p>
            <a:pPr indent="0" marL="0">
              <a:buNone/>
            </a:pPr>
            <a:r>
              <a:rPr lang="en-US" sz="2400" b="1" dirty="0">
                <a:solidFill>
                  <a:srgbClr val="F7F5EE"/>
                </a:solidFill>
                <a:latin typeface="Georgia" pitchFamily="34" charset="0"/>
                <a:ea typeface="Georgia" pitchFamily="34" charset="-122"/>
                <a:cs typeface="Georgia" pitchFamily="34" charset="-120"/>
              </a:rPr>
              <a:t>Slide 1: Phase 1 (Days 1–15) — Infrastructure &amp; Microgrant Capture</a:t>
            </a:r>
            <a:endParaRPr lang="en-US" sz="2400" dirty="0"/>
          </a:p>
        </p:txBody>
      </p:sp>
      <p:sp>
        <p:nvSpPr>
          <p:cNvPr id="9" name="Shape 7"/>
          <p:cNvSpPr/>
          <p:nvPr/>
        </p:nvSpPr>
        <p:spPr>
          <a:xfrm>
            <a:off x="457200" y="1783080"/>
            <a:ext cx="4754880" cy="4434840"/>
          </a:xfrm>
          <a:prstGeom prst="rect">
            <a:avLst/>
          </a:prstGeom>
          <a:solidFill>
            <a:srgbClr val="18242F"/>
          </a:solidFill>
          <a:ln w="9525">
            <a:solidFill>
              <a:srgbClr val="3E4852"/>
            </a:solidFill>
            <a:prstDash val="solid"/>
          </a:ln>
        </p:spPr>
      </p:sp>
      <p:sp>
        <p:nvSpPr>
          <p:cNvPr id="10" name="Text 8"/>
          <p:cNvSpPr/>
          <p:nvPr/>
        </p:nvSpPr>
        <p:spPr>
          <a:xfrm>
            <a:off x="640080" y="1920240"/>
            <a:ext cx="4389120" cy="4206240"/>
          </a:xfrm>
          <a:prstGeom prst="rect">
            <a:avLst/>
          </a:prstGeom>
          <a:noFill/>
          <a:ln/>
        </p:spPr>
        <p:txBody>
          <a:bodyPr wrap="square" lIns="0" tIns="0" rIns="0" bIns="0" rtlCol="0" anchor="t"/>
          <a:lstStyle/>
          <a:p>
            <a:pPr indent="0" marL="0">
              <a:spcAft>
                <a:spcPts val="400"/>
              </a:spcAft>
              <a:buNone/>
            </a:pPr>
            <a:r>
              <a:rPr lang="en-US" sz="1400" b="1" dirty="0">
                <a:solidFill>
                  <a:srgbClr val="E3B33B"/>
                </a:solidFill>
                <a:latin typeface="Calibri" pitchFamily="34" charset="0"/>
                <a:ea typeface="Calibri" pitchFamily="34" charset="-122"/>
                <a:cs typeface="Calibri" pitchFamily="34" charset="-120"/>
              </a:rPr>
              <a:t>🎯 What We Want to Achieve</a:t>
            </a:r>
            <a:endParaRPr lang="en-US" sz="1400" dirty="0"/>
          </a:p>
          <a:p>
            <a:pPr indent="0" marL="0">
              <a:spcAft>
                <a:spcPts val="1400"/>
              </a:spcAft>
              <a:buNone/>
            </a:pPr>
            <a:r>
              <a:rPr lang="en-US" sz="1250" dirty="0">
                <a:solidFill>
                  <a:srgbClr val="F7F5EE"/>
                </a:solidFill>
                <a:latin typeface="Calibri" pitchFamily="34" charset="0"/>
                <a:ea typeface="Calibri" pitchFamily="34" charset="-122"/>
                <a:cs typeface="Calibri" pitchFamily="34" charset="-120"/>
              </a:rPr>
              <a:t>Establish a secure, functional blockchain backend on the Arc Mainnet, integrate Circle’s Programmable Wallets, and secure baseline ecosystem validation.</a:t>
            </a:r>
            <a:endParaRPr lang="en-US" sz="1400" dirty="0"/>
          </a:p>
          <a:p>
            <a:pPr indent="0" marL="0">
              <a:spcAft>
                <a:spcPts val="400"/>
              </a:spcAft>
              <a:buNone/>
            </a:pPr>
            <a:r>
              <a:rPr lang="en-US" sz="1400" b="1" dirty="0">
                <a:solidFill>
                  <a:srgbClr val="E3B33B"/>
                </a:solidFill>
                <a:latin typeface="Calibri" pitchFamily="34" charset="0"/>
                <a:ea typeface="Calibri" pitchFamily="34" charset="-122"/>
                <a:cs typeface="Calibri" pitchFamily="34" charset="-120"/>
              </a:rPr>
              <a:t>💡 Why We Are Doing It</a:t>
            </a:r>
            <a:endParaRPr lang="en-US" sz="1400" dirty="0"/>
          </a:p>
          <a:p>
            <a:pPr indent="0" marL="0">
              <a:buNone/>
            </a:pPr>
            <a:r>
              <a:rPr lang="en-US" sz="1250" dirty="0">
                <a:solidFill>
                  <a:srgbClr val="F7F5EE"/>
                </a:solidFill>
                <a:latin typeface="Calibri" pitchFamily="34" charset="0"/>
                <a:ea typeface="Calibri" pitchFamily="34" charset="-122"/>
                <a:cs typeface="Calibri" pitchFamily="34" charset="-120"/>
              </a:rPr>
              <a:t>Deploying an asset early on mainnet removes technical risks. Capturing immediate micro-capital signals developer activity to the foundation, fast-tracking our review status for larger, six-figure institutional grants needed to support our Q4 2026 target metrics.</a:t>
            </a:r>
            <a:endParaRPr lang="en-US" sz="1400" dirty="0"/>
          </a:p>
        </p:txBody>
      </p:sp>
      <p:sp>
        <p:nvSpPr>
          <p:cNvPr id="11" name="Text 9"/>
          <p:cNvSpPr/>
          <p:nvPr/>
        </p:nvSpPr>
        <p:spPr>
          <a:xfrm>
            <a:off x="5486400" y="1783080"/>
            <a:ext cx="6245352" cy="4434840"/>
          </a:xfrm>
          <a:prstGeom prst="rect">
            <a:avLst/>
          </a:prstGeom>
          <a:noFill/>
          <a:ln/>
        </p:spPr>
        <p:txBody>
          <a:bodyPr wrap="square" lIns="0" tIns="0" rIns="0" bIns="0" rtlCol="0" anchor="t"/>
          <a:lstStyle/>
          <a:p>
            <a:pPr indent="0" marL="0">
              <a:spcAft>
                <a:spcPts val="600"/>
              </a:spcAft>
              <a:buNone/>
            </a:pPr>
            <a:r>
              <a:rPr lang="en-US" sz="1400" b="1" dirty="0">
                <a:solidFill>
                  <a:srgbClr val="E3B33B"/>
                </a:solidFill>
                <a:latin typeface="Calibri" pitchFamily="34" charset="0"/>
                <a:ea typeface="Calibri" pitchFamily="34" charset="-122"/>
                <a:cs typeface="Calibri" pitchFamily="34" charset="-120"/>
              </a:rPr>
              <a:t>🛠️ Descriptive Action to Take</a:t>
            </a:r>
            <a:endParaRPr lang="en-US" sz="1400" dirty="0"/>
          </a:p>
          <a:p>
            <a:pPr indent="0" marL="0">
              <a:spcAft>
                <a:spcPts val="600"/>
              </a:spcAft>
              <a:buNone/>
            </a:pPr>
            <a:r>
              <a:rPr lang="en-US" sz="1250" dirty="0">
                <a:solidFill>
                  <a:srgbClr val="F7F5EE"/>
                </a:solidFill>
                <a:latin typeface="Calibri" pitchFamily="34" charset="0"/>
                <a:ea typeface="Calibri" pitchFamily="34" charset="-122"/>
                <a:cs typeface="Calibri" pitchFamily="34" charset="-120"/>
              </a:rPr>
              <a:t>• Deploy Core Contracts: Write and deploy a lightweight, gas-optimized ticketing smart contract natively onto the Arc Mainnet.</a:t>
            </a:r>
            <a:endParaRPr lang="en-US" sz="1400" dirty="0"/>
          </a:p>
          <a:p>
            <a:pPr indent="0" marL="0">
              <a:spcAft>
                <a:spcPts val="600"/>
              </a:spcAft>
              <a:buNone/>
            </a:pPr>
            <a:r>
              <a:rPr lang="en-US" sz="1250" dirty="0">
                <a:solidFill>
                  <a:srgbClr val="F7F5EE"/>
                </a:solidFill>
                <a:latin typeface="Calibri" pitchFamily="34" charset="0"/>
                <a:ea typeface="Calibri" pitchFamily="34" charset="-122"/>
                <a:cs typeface="Calibri" pitchFamily="34" charset="-120"/>
              </a:rPr>
              <a:t>• Embed Web3 Wallets: Initialize Circle's Programmable Wallets SDK within the Liivrr mobile client to handle frictionless, gasless user account generation.</a:t>
            </a:r>
            <a:endParaRPr lang="en-US" sz="1400" dirty="0"/>
          </a:p>
          <a:p>
            <a:pPr indent="0" marL="0">
              <a:spcAft>
                <a:spcPts val="600"/>
              </a:spcAft>
              <a:buNone/>
            </a:pPr>
            <a:r>
              <a:rPr lang="en-US" sz="1250" dirty="0">
                <a:solidFill>
                  <a:srgbClr val="F7F5EE"/>
                </a:solidFill>
                <a:latin typeface="Calibri" pitchFamily="34" charset="0"/>
                <a:ea typeface="Calibri" pitchFamily="34" charset="-122"/>
                <a:cs typeface="Calibri" pitchFamily="34" charset="-120"/>
              </a:rPr>
              <a:t>• Trigger Micro-Funding: Submit the live Mainnet GitHub repository to the Arc Microgrants Program to unlock an immediate $500 USDC payout.</a:t>
            </a:r>
            <a:endParaRPr lang="en-US" sz="1400" dirty="0"/>
          </a:p>
          <a:p>
            <a:pPr indent="0" marL="0">
              <a:spcAft>
                <a:spcPts val="600"/>
              </a:spcAft>
              <a:buNone/>
            </a:pPr>
            <a:r>
              <a:rPr lang="en-US" sz="1250" dirty="0">
                <a:solidFill>
                  <a:srgbClr val="F7F5EE"/>
                </a:solidFill>
                <a:latin typeface="Calibri" pitchFamily="34" charset="0"/>
                <a:ea typeface="Calibri" pitchFamily="34" charset="-122"/>
                <a:cs typeface="Calibri" pitchFamily="34" charset="-120"/>
              </a:rPr>
              <a:t>• Offset Infrastructure Overhead: Apply to the Circle Credits Program to secure $1,000 in operational credits, completely subsidizing early developer database hosting costs.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1A24"/>
        </a:solidFill>
      </p:bgPr>
    </p:bg>
    <p:spTree>
      <p:nvGrpSpPr>
        <p:cNvPr id="1" name=""/>
        <p:cNvGrpSpPr/>
        <p:nvPr/>
      </p:nvGrpSpPr>
      <p:grpSpPr>
        <a:xfrm>
          <a:off x="0" y="0"/>
          <a:ext cx="0" cy="0"/>
          <a:chOff x="0" y="0"/>
          <a:chExt cx="0" cy="0"/>
        </a:xfrm>
      </p:grpSpPr>
      <p:sp>
        <p:nvSpPr>
          <p:cNvPr id="2" name="Shape 0"/>
          <p:cNvSpPr/>
          <p:nvPr/>
        </p:nvSpPr>
        <p:spPr>
          <a:xfrm>
            <a:off x="457200" y="320040"/>
            <a:ext cx="292608" cy="292608"/>
          </a:xfrm>
          <a:prstGeom prst="rect">
            <a:avLst/>
          </a:prstGeom>
          <a:solidFill>
            <a:srgbClr val="E3B33B"/>
          </a:solidFill>
          <a:ln/>
        </p:spPr>
      </p:sp>
      <p:sp>
        <p:nvSpPr>
          <p:cNvPr id="3" name="Text 1"/>
          <p:cNvSpPr/>
          <p:nvPr/>
        </p:nvSpPr>
        <p:spPr>
          <a:xfrm>
            <a:off x="457200" y="320040"/>
            <a:ext cx="292608" cy="292608"/>
          </a:xfrm>
          <a:prstGeom prst="rect">
            <a:avLst/>
          </a:prstGeom>
          <a:noFill/>
          <a:ln/>
        </p:spPr>
        <p:txBody>
          <a:bodyPr wrap="square" lIns="0" tIns="0" rIns="0" bIns="0" rtlCol="0" anchor="ctr"/>
          <a:lstStyle/>
          <a:p>
            <a:pPr algn="ctr" indent="0" marL="0">
              <a:buNone/>
            </a:pPr>
            <a:r>
              <a:rPr lang="en-US" sz="1300" b="1" dirty="0">
                <a:solidFill>
                  <a:srgbClr val="101A24"/>
                </a:solidFill>
                <a:latin typeface="Georgia" pitchFamily="34" charset="0"/>
                <a:ea typeface="Georgia" pitchFamily="34" charset="-122"/>
                <a:cs typeface="Georgia" pitchFamily="34" charset="-120"/>
              </a:rPr>
              <a:t>L</a:t>
            </a:r>
            <a:endParaRPr lang="en-US" sz="1300" dirty="0"/>
          </a:p>
        </p:txBody>
      </p:sp>
      <p:sp>
        <p:nvSpPr>
          <p:cNvPr id="4" name="Text 2"/>
          <p:cNvSpPr/>
          <p:nvPr/>
        </p:nvSpPr>
        <p:spPr>
          <a:xfrm>
            <a:off x="868680" y="320040"/>
            <a:ext cx="5486400" cy="292608"/>
          </a:xfrm>
          <a:prstGeom prst="rect">
            <a:avLst/>
          </a:prstGeom>
          <a:noFill/>
          <a:ln/>
        </p:spPr>
        <p:txBody>
          <a:bodyPr wrap="square" lIns="0" tIns="0" rIns="0" bIns="0" rtlCol="0" anchor="ctr"/>
          <a:lstStyle/>
          <a:p>
            <a:pPr indent="0" marL="0">
              <a:buNone/>
            </a:pPr>
            <a:r>
              <a:rPr lang="en-US" sz="1100" spc="200" kern="0" dirty="0">
                <a:solidFill>
                  <a:srgbClr val="A3AAB3"/>
                </a:solidFill>
                <a:latin typeface="Calibri" pitchFamily="34" charset="0"/>
                <a:ea typeface="Calibri" pitchFamily="34" charset="-122"/>
                <a:cs typeface="Calibri" pitchFamily="34" charset="-120"/>
              </a:rPr>
              <a:t>LIIVRR / STRATEGIC EXECUTION</a:t>
            </a:r>
            <a:endParaRPr lang="en-US" sz="1100" dirty="0"/>
          </a:p>
        </p:txBody>
      </p:sp>
      <p:sp>
        <p:nvSpPr>
          <p:cNvPr id="5" name="Shape 3"/>
          <p:cNvSpPr/>
          <p:nvPr/>
        </p:nvSpPr>
        <p:spPr>
          <a:xfrm>
            <a:off x="457200" y="6400800"/>
            <a:ext cx="11274552" cy="0"/>
          </a:xfrm>
          <a:prstGeom prst="line">
            <a:avLst/>
          </a:prstGeom>
          <a:noFill/>
          <a:ln w="9525">
            <a:solidFill>
              <a:srgbClr val="3E4852"/>
            </a:solidFill>
            <a:prstDash val="solid"/>
          </a:ln>
        </p:spPr>
      </p:sp>
      <p:sp>
        <p:nvSpPr>
          <p:cNvPr id="6" name="Text 4"/>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spc="200" kern="0" dirty="0">
                <a:solidFill>
                  <a:srgbClr val="A3AAB3"/>
                </a:solidFill>
                <a:latin typeface="Calibri" pitchFamily="34" charset="0"/>
                <a:ea typeface="Calibri" pitchFamily="34" charset="-122"/>
                <a:cs typeface="Calibri" pitchFamily="34" charset="-120"/>
              </a:rPr>
              <a:t>COO / BD OPERATIONAL ROADMAP</a:t>
            </a:r>
            <a:endParaRPr lang="en-US" sz="1000" dirty="0"/>
          </a:p>
        </p:txBody>
      </p:sp>
      <p:sp>
        <p:nvSpPr>
          <p:cNvPr id="7" name="Text 5"/>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E3B33B"/>
                </a:solidFill>
                <a:latin typeface="Calibri" pitchFamily="34" charset="0"/>
                <a:ea typeface="Calibri" pitchFamily="34" charset="-122"/>
                <a:cs typeface="Calibri" pitchFamily="34" charset="-120"/>
              </a:rPr>
              <a:t>06</a:t>
            </a:r>
            <a:endParaRPr lang="en-US" sz="1000" dirty="0"/>
          </a:p>
        </p:txBody>
      </p:sp>
      <p:sp>
        <p:nvSpPr>
          <p:cNvPr id="8" name="Text 6"/>
          <p:cNvSpPr/>
          <p:nvPr/>
        </p:nvSpPr>
        <p:spPr>
          <a:xfrm>
            <a:off x="457200" y="822960"/>
            <a:ext cx="11247120" cy="822960"/>
          </a:xfrm>
          <a:prstGeom prst="rect">
            <a:avLst/>
          </a:prstGeom>
          <a:noFill/>
          <a:ln/>
        </p:spPr>
        <p:txBody>
          <a:bodyPr wrap="square" lIns="0" tIns="0" rIns="0" bIns="0" rtlCol="0" anchor="ctr"/>
          <a:lstStyle/>
          <a:p>
            <a:pPr indent="0" marL="0">
              <a:buNone/>
            </a:pPr>
            <a:r>
              <a:rPr lang="en-US" sz="2400" b="1" dirty="0">
                <a:solidFill>
                  <a:srgbClr val="F7F5EE"/>
                </a:solidFill>
                <a:latin typeface="Georgia" pitchFamily="34" charset="0"/>
                <a:ea typeface="Georgia" pitchFamily="34" charset="-122"/>
                <a:cs typeface="Georgia" pitchFamily="34" charset="-120"/>
              </a:rPr>
              <a:t>Slide 2: Phase 2 (Days 16–30) — Institutional Grant Acquisition</a:t>
            </a:r>
            <a:endParaRPr lang="en-US" sz="2400" dirty="0"/>
          </a:p>
        </p:txBody>
      </p:sp>
      <p:sp>
        <p:nvSpPr>
          <p:cNvPr id="9" name="Shape 7"/>
          <p:cNvSpPr/>
          <p:nvPr/>
        </p:nvSpPr>
        <p:spPr>
          <a:xfrm>
            <a:off x="457200" y="1783080"/>
            <a:ext cx="4754880" cy="4434840"/>
          </a:xfrm>
          <a:prstGeom prst="rect">
            <a:avLst/>
          </a:prstGeom>
          <a:solidFill>
            <a:srgbClr val="18242F"/>
          </a:solidFill>
          <a:ln w="9525">
            <a:solidFill>
              <a:srgbClr val="3E4852"/>
            </a:solidFill>
            <a:prstDash val="solid"/>
          </a:ln>
        </p:spPr>
      </p:sp>
      <p:sp>
        <p:nvSpPr>
          <p:cNvPr id="10" name="Text 8"/>
          <p:cNvSpPr/>
          <p:nvPr/>
        </p:nvSpPr>
        <p:spPr>
          <a:xfrm>
            <a:off x="640080" y="1920240"/>
            <a:ext cx="4389120" cy="4206240"/>
          </a:xfrm>
          <a:prstGeom prst="rect">
            <a:avLst/>
          </a:prstGeom>
          <a:noFill/>
          <a:ln/>
        </p:spPr>
        <p:txBody>
          <a:bodyPr wrap="square" lIns="0" tIns="0" rIns="0" bIns="0" rtlCol="0" anchor="t"/>
          <a:lstStyle/>
          <a:p>
            <a:pPr indent="0" marL="0">
              <a:spcAft>
                <a:spcPts val="400"/>
              </a:spcAft>
              <a:buNone/>
            </a:pPr>
            <a:r>
              <a:rPr lang="en-US" sz="1400" b="1" dirty="0">
                <a:solidFill>
                  <a:srgbClr val="E3B33B"/>
                </a:solidFill>
                <a:latin typeface="Calibri" pitchFamily="34" charset="0"/>
                <a:ea typeface="Calibri" pitchFamily="34" charset="-122"/>
                <a:cs typeface="Calibri" pitchFamily="34" charset="-120"/>
              </a:rPr>
              <a:t>🎯 What We Want to Achieve</a:t>
            </a:r>
            <a:endParaRPr lang="en-US" sz="1400" dirty="0"/>
          </a:p>
          <a:p>
            <a:pPr indent="0" marL="0">
              <a:spcAft>
                <a:spcPts val="1400"/>
              </a:spcAft>
              <a:buNone/>
            </a:pPr>
            <a:r>
              <a:rPr lang="en-US" sz="1250" dirty="0">
                <a:solidFill>
                  <a:srgbClr val="F7F5EE"/>
                </a:solidFill>
                <a:latin typeface="Calibri" pitchFamily="34" charset="0"/>
                <a:ea typeface="Calibri" pitchFamily="34" charset="-122"/>
                <a:cs typeface="Calibri" pitchFamily="34" charset="-120"/>
              </a:rPr>
              <a:t>Secure up to $100,000 USDC in non-dilutive, milestone-based capital from Circle and deep-tier ecosystem backing from the Arc Builders Fund.</a:t>
            </a:r>
            <a:endParaRPr lang="en-US" sz="1400" dirty="0"/>
          </a:p>
          <a:p>
            <a:pPr indent="0" marL="0">
              <a:spcAft>
                <a:spcPts val="400"/>
              </a:spcAft>
              <a:buNone/>
            </a:pPr>
            <a:r>
              <a:rPr lang="en-US" sz="1400" b="1" dirty="0">
                <a:solidFill>
                  <a:srgbClr val="E3B33B"/>
                </a:solidFill>
                <a:latin typeface="Calibri" pitchFamily="34" charset="0"/>
                <a:ea typeface="Calibri" pitchFamily="34" charset="-122"/>
                <a:cs typeface="Calibri" pitchFamily="34" charset="-120"/>
              </a:rPr>
              <a:t>💡 Why We Are Doing It</a:t>
            </a:r>
            <a:endParaRPr lang="en-US" sz="1400" dirty="0"/>
          </a:p>
          <a:p>
            <a:pPr indent="0" marL="0">
              <a:buNone/>
            </a:pPr>
            <a:r>
              <a:rPr lang="en-US" sz="1250" dirty="0">
                <a:solidFill>
                  <a:srgbClr val="F7F5EE"/>
                </a:solidFill>
                <a:latin typeface="Calibri" pitchFamily="34" charset="0"/>
                <a:ea typeface="Calibri" pitchFamily="34" charset="-122"/>
                <a:cs typeface="Calibri" pitchFamily="34" charset="-120"/>
              </a:rPr>
              <a:t>To extend our engineering and marketing runway without sacrificing company equity. Aligning our platform with the core utility goals of Arc and Circle gives us access to elite developer support and direct intros to top-tier Web3 venture capital firms.</a:t>
            </a:r>
            <a:endParaRPr lang="en-US" sz="1400" dirty="0"/>
          </a:p>
        </p:txBody>
      </p:sp>
      <p:sp>
        <p:nvSpPr>
          <p:cNvPr id="11" name="Text 9"/>
          <p:cNvSpPr/>
          <p:nvPr/>
        </p:nvSpPr>
        <p:spPr>
          <a:xfrm>
            <a:off x="5486400" y="1783080"/>
            <a:ext cx="6245352" cy="4434840"/>
          </a:xfrm>
          <a:prstGeom prst="rect">
            <a:avLst/>
          </a:prstGeom>
          <a:noFill/>
          <a:ln/>
        </p:spPr>
        <p:txBody>
          <a:bodyPr wrap="square" lIns="0" tIns="0" rIns="0" bIns="0" rtlCol="0" anchor="t"/>
          <a:lstStyle/>
          <a:p>
            <a:pPr indent="0" marL="0">
              <a:spcAft>
                <a:spcPts val="600"/>
              </a:spcAft>
              <a:buNone/>
            </a:pPr>
            <a:r>
              <a:rPr lang="en-US" sz="1400" b="1" dirty="0">
                <a:solidFill>
                  <a:srgbClr val="E3B33B"/>
                </a:solidFill>
                <a:latin typeface="Calibri" pitchFamily="34" charset="0"/>
                <a:ea typeface="Calibri" pitchFamily="34" charset="-122"/>
                <a:cs typeface="Calibri" pitchFamily="34" charset="-120"/>
              </a:rPr>
              <a:t>🛠️ Descriptive Action to Take</a:t>
            </a:r>
            <a:endParaRPr lang="en-US" sz="1400" dirty="0"/>
          </a:p>
          <a:p>
            <a:pPr indent="0" marL="0">
              <a:spcAft>
                <a:spcPts val="600"/>
              </a:spcAft>
              <a:buNone/>
            </a:pPr>
            <a:r>
              <a:rPr lang="en-US" sz="1250" dirty="0">
                <a:solidFill>
                  <a:srgbClr val="F7F5EE"/>
                </a:solidFill>
                <a:latin typeface="Calibri" pitchFamily="34" charset="0"/>
                <a:ea typeface="Calibri" pitchFamily="34" charset="-122"/>
                <a:cs typeface="Calibri" pitchFamily="34" charset="-120"/>
              </a:rPr>
              <a:t>• Submit Circle Developer Grant: Compile and submit our product roadmap to the Circle Grant portal, explicitly highlighting how Liivrr acts as a high-velocity consumer vehicle for USDC microtransactions via event ticketing.</a:t>
            </a:r>
            <a:endParaRPr lang="en-US" sz="1400" dirty="0"/>
          </a:p>
          <a:p>
            <a:pPr indent="0" marL="0">
              <a:spcAft>
                <a:spcPts val="600"/>
              </a:spcAft>
              <a:buNone/>
            </a:pPr>
            <a:r>
              <a:rPr lang="en-US" sz="1250" dirty="0">
                <a:solidFill>
                  <a:srgbClr val="F7F5EE"/>
                </a:solidFill>
                <a:latin typeface="Calibri" pitchFamily="34" charset="0"/>
                <a:ea typeface="Calibri" pitchFamily="34" charset="-122"/>
                <a:cs typeface="Calibri" pitchFamily="34" charset="-120"/>
              </a:rPr>
              <a:t>• Position for Agentic Commerce: Frame our technical proposal around the Arc Builders Fund parameters, positioning Liivrr’s conversational AI bots as a premier use case for automated onchain commerce.</a:t>
            </a:r>
            <a:endParaRPr lang="en-US" sz="1400" dirty="0"/>
          </a:p>
          <a:p>
            <a:pPr indent="0" marL="0">
              <a:spcAft>
                <a:spcPts val="600"/>
              </a:spcAft>
              <a:buNone/>
            </a:pPr>
            <a:r>
              <a:rPr lang="en-US" sz="1250" dirty="0">
                <a:solidFill>
                  <a:srgbClr val="F7F5EE"/>
                </a:solidFill>
                <a:latin typeface="Calibri" pitchFamily="34" charset="0"/>
                <a:ea typeface="Calibri" pitchFamily="34" charset="-122"/>
                <a:cs typeface="Calibri" pitchFamily="34" charset="-120"/>
              </a:rPr>
              <a:t>• Pitch Milestone Targets: Align our grant disbursement schedule directly with our upcoming December 2026 goals:</a:t>
            </a:r>
            <a:endParaRPr lang="en-US" sz="1400" dirty="0"/>
          </a:p>
          <a:p>
            <a:pPr lvl="1" indent="0" marL="0">
              <a:spcAft>
                <a:spcPts val="600"/>
              </a:spcAft>
              <a:buNone/>
            </a:pPr>
            <a:r>
              <a:rPr lang="en-US" sz="1250" dirty="0">
                <a:solidFill>
                  <a:srgbClr val="A3AAB3"/>
                </a:solidFill>
                <a:latin typeface="Calibri" pitchFamily="34" charset="0"/>
                <a:ea typeface="Calibri" pitchFamily="34" charset="-122"/>
                <a:cs typeface="Calibri" pitchFamily="34" charset="-120"/>
              </a:rPr>
              <a:t>• Milestone 1: Disbursement upon successfully onboarding our first 25 event/restaurant tenants.</a:t>
            </a:r>
            <a:endParaRPr lang="en-US" sz="1400" dirty="0"/>
          </a:p>
          <a:p>
            <a:pPr lvl="1" indent="0" marL="0">
              <a:spcAft>
                <a:spcPts val="600"/>
              </a:spcAft>
              <a:buNone/>
            </a:pPr>
            <a:r>
              <a:rPr lang="en-US" sz="1250" dirty="0">
                <a:solidFill>
                  <a:srgbClr val="A3AAB3"/>
                </a:solidFill>
                <a:latin typeface="Calibri" pitchFamily="34" charset="0"/>
                <a:ea typeface="Calibri" pitchFamily="34" charset="-122"/>
                <a:cs typeface="Calibri" pitchFamily="34" charset="-120"/>
              </a:rPr>
              <a:t>• Milestone 2: Disbursement upon scaling to 1,000 active user wallets and completing 50 total tenant integrations by December 2026.</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1A24"/>
        </a:solidFill>
      </p:bgPr>
    </p:bg>
    <p:spTree>
      <p:nvGrpSpPr>
        <p:cNvPr id="1" name=""/>
        <p:cNvGrpSpPr/>
        <p:nvPr/>
      </p:nvGrpSpPr>
      <p:grpSpPr>
        <a:xfrm>
          <a:off x="0" y="0"/>
          <a:ext cx="0" cy="0"/>
          <a:chOff x="0" y="0"/>
          <a:chExt cx="0" cy="0"/>
        </a:xfrm>
      </p:grpSpPr>
      <p:sp>
        <p:nvSpPr>
          <p:cNvPr id="2" name="Shape 0"/>
          <p:cNvSpPr/>
          <p:nvPr/>
        </p:nvSpPr>
        <p:spPr>
          <a:xfrm>
            <a:off x="457200" y="320040"/>
            <a:ext cx="292608" cy="292608"/>
          </a:xfrm>
          <a:prstGeom prst="rect">
            <a:avLst/>
          </a:prstGeom>
          <a:solidFill>
            <a:srgbClr val="E3B33B"/>
          </a:solidFill>
          <a:ln/>
        </p:spPr>
      </p:sp>
      <p:sp>
        <p:nvSpPr>
          <p:cNvPr id="3" name="Text 1"/>
          <p:cNvSpPr/>
          <p:nvPr/>
        </p:nvSpPr>
        <p:spPr>
          <a:xfrm>
            <a:off x="457200" y="320040"/>
            <a:ext cx="292608" cy="292608"/>
          </a:xfrm>
          <a:prstGeom prst="rect">
            <a:avLst/>
          </a:prstGeom>
          <a:noFill/>
          <a:ln/>
        </p:spPr>
        <p:txBody>
          <a:bodyPr wrap="square" lIns="0" tIns="0" rIns="0" bIns="0" rtlCol="0" anchor="ctr"/>
          <a:lstStyle/>
          <a:p>
            <a:pPr algn="ctr" indent="0" marL="0">
              <a:buNone/>
            </a:pPr>
            <a:r>
              <a:rPr lang="en-US" sz="1300" b="1" dirty="0">
                <a:solidFill>
                  <a:srgbClr val="101A24"/>
                </a:solidFill>
                <a:latin typeface="Georgia" pitchFamily="34" charset="0"/>
                <a:ea typeface="Georgia" pitchFamily="34" charset="-122"/>
                <a:cs typeface="Georgia" pitchFamily="34" charset="-120"/>
              </a:rPr>
              <a:t>L</a:t>
            </a:r>
            <a:endParaRPr lang="en-US" sz="1300" dirty="0"/>
          </a:p>
        </p:txBody>
      </p:sp>
      <p:sp>
        <p:nvSpPr>
          <p:cNvPr id="4" name="Text 2"/>
          <p:cNvSpPr/>
          <p:nvPr/>
        </p:nvSpPr>
        <p:spPr>
          <a:xfrm>
            <a:off x="868680" y="320040"/>
            <a:ext cx="5486400" cy="292608"/>
          </a:xfrm>
          <a:prstGeom prst="rect">
            <a:avLst/>
          </a:prstGeom>
          <a:noFill/>
          <a:ln/>
        </p:spPr>
        <p:txBody>
          <a:bodyPr wrap="square" lIns="0" tIns="0" rIns="0" bIns="0" rtlCol="0" anchor="ctr"/>
          <a:lstStyle/>
          <a:p>
            <a:pPr indent="0" marL="0">
              <a:buNone/>
            </a:pPr>
            <a:r>
              <a:rPr lang="en-US" sz="1100" spc="200" kern="0" dirty="0">
                <a:solidFill>
                  <a:srgbClr val="A3AAB3"/>
                </a:solidFill>
                <a:latin typeface="Calibri" pitchFamily="34" charset="0"/>
                <a:ea typeface="Calibri" pitchFamily="34" charset="-122"/>
                <a:cs typeface="Calibri" pitchFamily="34" charset="-120"/>
              </a:rPr>
              <a:t>LIIVRR / STRATEGIC EXECUTION</a:t>
            </a:r>
            <a:endParaRPr lang="en-US" sz="1100" dirty="0"/>
          </a:p>
        </p:txBody>
      </p:sp>
      <p:sp>
        <p:nvSpPr>
          <p:cNvPr id="5" name="Shape 3"/>
          <p:cNvSpPr/>
          <p:nvPr/>
        </p:nvSpPr>
        <p:spPr>
          <a:xfrm>
            <a:off x="457200" y="6400800"/>
            <a:ext cx="11274552" cy="0"/>
          </a:xfrm>
          <a:prstGeom prst="line">
            <a:avLst/>
          </a:prstGeom>
          <a:noFill/>
          <a:ln w="9525">
            <a:solidFill>
              <a:srgbClr val="3E4852"/>
            </a:solidFill>
            <a:prstDash val="solid"/>
          </a:ln>
        </p:spPr>
      </p:sp>
      <p:sp>
        <p:nvSpPr>
          <p:cNvPr id="6" name="Text 4"/>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spc="200" kern="0" dirty="0">
                <a:solidFill>
                  <a:srgbClr val="A3AAB3"/>
                </a:solidFill>
                <a:latin typeface="Calibri" pitchFamily="34" charset="0"/>
                <a:ea typeface="Calibri" pitchFamily="34" charset="-122"/>
                <a:cs typeface="Calibri" pitchFamily="34" charset="-120"/>
              </a:rPr>
              <a:t>COO / BD OPERATIONAL ROADMAP</a:t>
            </a:r>
            <a:endParaRPr lang="en-US" sz="1000" dirty="0"/>
          </a:p>
        </p:txBody>
      </p:sp>
      <p:sp>
        <p:nvSpPr>
          <p:cNvPr id="7" name="Text 5"/>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E3B33B"/>
                </a:solidFill>
                <a:latin typeface="Calibri" pitchFamily="34" charset="0"/>
                <a:ea typeface="Calibri" pitchFamily="34" charset="-122"/>
                <a:cs typeface="Calibri" pitchFamily="34" charset="-120"/>
              </a:rPr>
              <a:t>07</a:t>
            </a:r>
            <a:endParaRPr lang="en-US" sz="1000" dirty="0"/>
          </a:p>
        </p:txBody>
      </p:sp>
      <p:sp>
        <p:nvSpPr>
          <p:cNvPr id="8" name="Text 6"/>
          <p:cNvSpPr/>
          <p:nvPr/>
        </p:nvSpPr>
        <p:spPr>
          <a:xfrm>
            <a:off x="457200" y="822960"/>
            <a:ext cx="11247120" cy="822960"/>
          </a:xfrm>
          <a:prstGeom prst="rect">
            <a:avLst/>
          </a:prstGeom>
          <a:noFill/>
          <a:ln/>
        </p:spPr>
        <p:txBody>
          <a:bodyPr wrap="square" lIns="0" tIns="0" rIns="0" bIns="0" rtlCol="0" anchor="ctr"/>
          <a:lstStyle/>
          <a:p>
            <a:pPr indent="0" marL="0">
              <a:buNone/>
            </a:pPr>
            <a:r>
              <a:rPr lang="en-US" sz="2400" b="1" dirty="0">
                <a:solidFill>
                  <a:srgbClr val="F7F5EE"/>
                </a:solidFill>
                <a:latin typeface="Georgia" pitchFamily="34" charset="0"/>
                <a:ea typeface="Georgia" pitchFamily="34" charset="-122"/>
                <a:cs typeface="Georgia" pitchFamily="34" charset="-120"/>
              </a:rPr>
              <a:t>Slide 3: Phase 3 (Days 31–45) — Collegiate Pilot &amp; Tenant Acquisition Run</a:t>
            </a:r>
            <a:endParaRPr lang="en-US" sz="2400" dirty="0"/>
          </a:p>
        </p:txBody>
      </p:sp>
      <p:sp>
        <p:nvSpPr>
          <p:cNvPr id="9" name="Shape 7"/>
          <p:cNvSpPr/>
          <p:nvPr/>
        </p:nvSpPr>
        <p:spPr>
          <a:xfrm>
            <a:off x="457200" y="1783080"/>
            <a:ext cx="4754880" cy="4434840"/>
          </a:xfrm>
          <a:prstGeom prst="rect">
            <a:avLst/>
          </a:prstGeom>
          <a:solidFill>
            <a:srgbClr val="18242F"/>
          </a:solidFill>
          <a:ln w="9525">
            <a:solidFill>
              <a:srgbClr val="3E4852"/>
            </a:solidFill>
            <a:prstDash val="solid"/>
          </a:ln>
        </p:spPr>
      </p:sp>
      <p:sp>
        <p:nvSpPr>
          <p:cNvPr id="10" name="Text 8"/>
          <p:cNvSpPr/>
          <p:nvPr/>
        </p:nvSpPr>
        <p:spPr>
          <a:xfrm>
            <a:off x="640080" y="1920240"/>
            <a:ext cx="4389120" cy="4206240"/>
          </a:xfrm>
          <a:prstGeom prst="rect">
            <a:avLst/>
          </a:prstGeom>
          <a:noFill/>
          <a:ln/>
        </p:spPr>
        <p:txBody>
          <a:bodyPr wrap="square" lIns="0" tIns="0" rIns="0" bIns="0" rtlCol="0" anchor="t"/>
          <a:lstStyle/>
          <a:p>
            <a:pPr indent="0" marL="0">
              <a:spcAft>
                <a:spcPts val="400"/>
              </a:spcAft>
              <a:buNone/>
            </a:pPr>
            <a:r>
              <a:rPr lang="en-US" sz="1400" b="1" dirty="0">
                <a:solidFill>
                  <a:srgbClr val="E3B33B"/>
                </a:solidFill>
                <a:latin typeface="Calibri" pitchFamily="34" charset="0"/>
                <a:ea typeface="Calibri" pitchFamily="34" charset="-122"/>
                <a:cs typeface="Calibri" pitchFamily="34" charset="-120"/>
              </a:rPr>
              <a:t>🎯 What We Want to Achieve</a:t>
            </a:r>
            <a:endParaRPr lang="en-US" sz="1400" dirty="0"/>
          </a:p>
          <a:p>
            <a:pPr indent="0" marL="0">
              <a:spcAft>
                <a:spcPts val="1400"/>
              </a:spcAft>
              <a:buNone/>
            </a:pPr>
            <a:r>
              <a:rPr lang="en-US" sz="1250" dirty="0">
                <a:solidFill>
                  <a:srgbClr val="F7F5EE"/>
                </a:solidFill>
                <a:latin typeface="Calibri" pitchFamily="34" charset="0"/>
                <a:ea typeface="Calibri" pitchFamily="34" charset="-122"/>
                <a:cs typeface="Calibri" pitchFamily="34" charset="-120"/>
              </a:rPr>
              <a:t>Launch a hyper-dense, high-retention user acquisition pilot across target campus clusters, aggressively onboarding 50 local restaurant and event tenants alongside a core base of 1,000 active users by December 2026.</a:t>
            </a:r>
            <a:endParaRPr lang="en-US" sz="1400" dirty="0"/>
          </a:p>
          <a:p>
            <a:pPr indent="0" marL="0">
              <a:spcAft>
                <a:spcPts val="400"/>
              </a:spcAft>
              <a:buNone/>
            </a:pPr>
            <a:r>
              <a:rPr lang="en-US" sz="1400" b="1" dirty="0">
                <a:solidFill>
                  <a:srgbClr val="E3B33B"/>
                </a:solidFill>
                <a:latin typeface="Calibri" pitchFamily="34" charset="0"/>
                <a:ea typeface="Calibri" pitchFamily="34" charset="-122"/>
                <a:cs typeface="Calibri" pitchFamily="34" charset="-120"/>
              </a:rPr>
              <a:t>💡 Why We Are Doing It</a:t>
            </a:r>
            <a:endParaRPr lang="en-US" sz="1400" dirty="0"/>
          </a:p>
          <a:p>
            <a:pPr indent="0" marL="0">
              <a:buNone/>
            </a:pPr>
            <a:r>
              <a:rPr lang="en-US" sz="1250" dirty="0">
                <a:solidFill>
                  <a:srgbClr val="F7F5EE"/>
                </a:solidFill>
                <a:latin typeface="Calibri" pitchFamily="34" charset="0"/>
                <a:ea typeface="Calibri" pitchFamily="34" charset="-122"/>
                <a:cs typeface="Calibri" pitchFamily="34" charset="-120"/>
              </a:rPr>
              <a:t>Consumer social apps thrive on dense, localized network effects. Bringing local restaurants and student event organizers onto the platform as tenants provides the immediate inventory required to attract and retain our 1,000-user baseline.</a:t>
            </a:r>
            <a:endParaRPr lang="en-US" sz="1400" dirty="0"/>
          </a:p>
        </p:txBody>
      </p:sp>
      <p:sp>
        <p:nvSpPr>
          <p:cNvPr id="11" name="Text 9"/>
          <p:cNvSpPr/>
          <p:nvPr/>
        </p:nvSpPr>
        <p:spPr>
          <a:xfrm>
            <a:off x="5486400" y="1783080"/>
            <a:ext cx="6245352" cy="4434840"/>
          </a:xfrm>
          <a:prstGeom prst="rect">
            <a:avLst/>
          </a:prstGeom>
          <a:noFill/>
          <a:ln/>
        </p:spPr>
        <p:txBody>
          <a:bodyPr wrap="square" lIns="0" tIns="0" rIns="0" bIns="0" rtlCol="0" anchor="t"/>
          <a:lstStyle/>
          <a:p>
            <a:pPr indent="0" marL="0">
              <a:spcAft>
                <a:spcPts val="600"/>
              </a:spcAft>
              <a:buNone/>
            </a:pPr>
            <a:r>
              <a:rPr lang="en-US" sz="1400" b="1" dirty="0">
                <a:solidFill>
                  <a:srgbClr val="E3B33B"/>
                </a:solidFill>
                <a:latin typeface="Calibri" pitchFamily="34" charset="0"/>
                <a:ea typeface="Calibri" pitchFamily="34" charset="-122"/>
                <a:cs typeface="Calibri" pitchFamily="34" charset="-120"/>
              </a:rPr>
              <a:t>🛠️ Descriptive Action to Take</a:t>
            </a:r>
            <a:endParaRPr lang="en-US" sz="1400" dirty="0"/>
          </a:p>
          <a:p>
            <a:pPr indent="0" marL="0">
              <a:spcAft>
                <a:spcPts val="600"/>
              </a:spcAft>
              <a:buNone/>
            </a:pPr>
            <a:r>
              <a:rPr lang="en-US" sz="1250" dirty="0">
                <a:solidFill>
                  <a:srgbClr val="F7F5EE"/>
                </a:solidFill>
                <a:latin typeface="Calibri" pitchFamily="34" charset="0"/>
                <a:ea typeface="Calibri" pitchFamily="34" charset="-122"/>
                <a:cs typeface="Calibri" pitchFamily="34" charset="-120"/>
              </a:rPr>
              <a:t>• Onboard the 50 Tenants: Deploy a specialized BD field team to pitch local restaurants and event curators. Offer them zero platform fees for their first 3 months and free AI-driven attendance forecasting to secure their tenant placement.</a:t>
            </a:r>
            <a:endParaRPr lang="en-US" sz="1400" dirty="0"/>
          </a:p>
          <a:p>
            <a:pPr indent="0" marL="0">
              <a:spcAft>
                <a:spcPts val="600"/>
              </a:spcAft>
              <a:buNone/>
            </a:pPr>
            <a:r>
              <a:rPr lang="en-US" sz="1250" dirty="0">
                <a:solidFill>
                  <a:srgbClr val="F7F5EE"/>
                </a:solidFill>
                <a:latin typeface="Calibri" pitchFamily="34" charset="0"/>
                <a:ea typeface="Calibri" pitchFamily="34" charset="-122"/>
                <a:cs typeface="Calibri" pitchFamily="34" charset="-120"/>
              </a:rPr>
              <a:t>• Deploy Campus Ambassadors: Recruit and onboard influential student organizers at target universities to lock down exclusive ticketing rights for campus parties, Greek life, and club events.</a:t>
            </a:r>
            <a:endParaRPr lang="en-US" sz="1400" dirty="0"/>
          </a:p>
          <a:p>
            <a:pPr indent="0" marL="0">
              <a:spcAft>
                <a:spcPts val="600"/>
              </a:spcAft>
              <a:buNone/>
            </a:pPr>
            <a:r>
              <a:rPr lang="en-US" sz="1250" dirty="0">
                <a:solidFill>
                  <a:srgbClr val="F7F5EE"/>
                </a:solidFill>
                <a:latin typeface="Calibri" pitchFamily="34" charset="0"/>
                <a:ea typeface="Calibri" pitchFamily="34" charset="-122"/>
                <a:cs typeface="Calibri" pitchFamily="34" charset="-120"/>
              </a:rPr>
              <a:t>• Engage the Viral Loop: Activate peer-to-peer user loops by programmatically rewarding students with $LIIVRR tokens when they invite friends into private event chat rooms, ensuring we cross the 1,000 active user threshold before December 2026.</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01A24"/>
        </a:solidFill>
      </p:bgPr>
    </p:bg>
    <p:spTree>
      <p:nvGrpSpPr>
        <p:cNvPr id="1" name=""/>
        <p:cNvGrpSpPr/>
        <p:nvPr/>
      </p:nvGrpSpPr>
      <p:grpSpPr>
        <a:xfrm>
          <a:off x="0" y="0"/>
          <a:ext cx="0" cy="0"/>
          <a:chOff x="0" y="0"/>
          <a:chExt cx="0" cy="0"/>
        </a:xfrm>
      </p:grpSpPr>
      <p:sp>
        <p:nvSpPr>
          <p:cNvPr id="2" name="Shape 0"/>
          <p:cNvSpPr/>
          <p:nvPr/>
        </p:nvSpPr>
        <p:spPr>
          <a:xfrm>
            <a:off x="457200" y="320040"/>
            <a:ext cx="292608" cy="292608"/>
          </a:xfrm>
          <a:prstGeom prst="rect">
            <a:avLst/>
          </a:prstGeom>
          <a:solidFill>
            <a:srgbClr val="E3B33B"/>
          </a:solidFill>
          <a:ln/>
        </p:spPr>
      </p:sp>
      <p:sp>
        <p:nvSpPr>
          <p:cNvPr id="3" name="Text 1"/>
          <p:cNvSpPr/>
          <p:nvPr/>
        </p:nvSpPr>
        <p:spPr>
          <a:xfrm>
            <a:off x="457200" y="320040"/>
            <a:ext cx="292608" cy="292608"/>
          </a:xfrm>
          <a:prstGeom prst="rect">
            <a:avLst/>
          </a:prstGeom>
          <a:noFill/>
          <a:ln/>
        </p:spPr>
        <p:txBody>
          <a:bodyPr wrap="square" lIns="0" tIns="0" rIns="0" bIns="0" rtlCol="0" anchor="ctr"/>
          <a:lstStyle/>
          <a:p>
            <a:pPr algn="ctr" indent="0" marL="0">
              <a:buNone/>
            </a:pPr>
            <a:r>
              <a:rPr lang="en-US" sz="1300" b="1" dirty="0">
                <a:solidFill>
                  <a:srgbClr val="101A24"/>
                </a:solidFill>
                <a:latin typeface="Georgia" pitchFamily="34" charset="0"/>
                <a:ea typeface="Georgia" pitchFamily="34" charset="-122"/>
                <a:cs typeface="Georgia" pitchFamily="34" charset="-120"/>
              </a:rPr>
              <a:t>L</a:t>
            </a:r>
            <a:endParaRPr lang="en-US" sz="1300" dirty="0"/>
          </a:p>
        </p:txBody>
      </p:sp>
      <p:sp>
        <p:nvSpPr>
          <p:cNvPr id="4" name="Text 2"/>
          <p:cNvSpPr/>
          <p:nvPr/>
        </p:nvSpPr>
        <p:spPr>
          <a:xfrm>
            <a:off x="868680" y="320040"/>
            <a:ext cx="5486400" cy="292608"/>
          </a:xfrm>
          <a:prstGeom prst="rect">
            <a:avLst/>
          </a:prstGeom>
          <a:noFill/>
          <a:ln/>
        </p:spPr>
        <p:txBody>
          <a:bodyPr wrap="square" lIns="0" tIns="0" rIns="0" bIns="0" rtlCol="0" anchor="ctr"/>
          <a:lstStyle/>
          <a:p>
            <a:pPr indent="0" marL="0">
              <a:buNone/>
            </a:pPr>
            <a:r>
              <a:rPr lang="en-US" sz="1100" spc="200" kern="0" dirty="0">
                <a:solidFill>
                  <a:srgbClr val="A3AAB3"/>
                </a:solidFill>
                <a:latin typeface="Calibri" pitchFamily="34" charset="0"/>
                <a:ea typeface="Calibri" pitchFamily="34" charset="-122"/>
                <a:cs typeface="Calibri" pitchFamily="34" charset="-120"/>
              </a:rPr>
              <a:t>LIIVRR / STRATEGIC EXECUTION</a:t>
            </a:r>
            <a:endParaRPr lang="en-US" sz="1100" dirty="0"/>
          </a:p>
        </p:txBody>
      </p:sp>
      <p:sp>
        <p:nvSpPr>
          <p:cNvPr id="5" name="Shape 3"/>
          <p:cNvSpPr/>
          <p:nvPr/>
        </p:nvSpPr>
        <p:spPr>
          <a:xfrm>
            <a:off x="457200" y="6400800"/>
            <a:ext cx="11274552" cy="0"/>
          </a:xfrm>
          <a:prstGeom prst="line">
            <a:avLst/>
          </a:prstGeom>
          <a:noFill/>
          <a:ln w="9525">
            <a:solidFill>
              <a:srgbClr val="3E4852"/>
            </a:solidFill>
            <a:prstDash val="solid"/>
          </a:ln>
        </p:spPr>
      </p:sp>
      <p:sp>
        <p:nvSpPr>
          <p:cNvPr id="6" name="Text 4"/>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spc="200" kern="0" dirty="0">
                <a:solidFill>
                  <a:srgbClr val="A3AAB3"/>
                </a:solidFill>
                <a:latin typeface="Calibri" pitchFamily="34" charset="0"/>
                <a:ea typeface="Calibri" pitchFamily="34" charset="-122"/>
                <a:cs typeface="Calibri" pitchFamily="34" charset="-120"/>
              </a:rPr>
              <a:t>COO / BD OPERATIONAL ROADMAP</a:t>
            </a:r>
            <a:endParaRPr lang="en-US" sz="1000" dirty="0"/>
          </a:p>
        </p:txBody>
      </p:sp>
      <p:sp>
        <p:nvSpPr>
          <p:cNvPr id="7" name="Text 5"/>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E3B33B"/>
                </a:solidFill>
                <a:latin typeface="Calibri" pitchFamily="34" charset="0"/>
                <a:ea typeface="Calibri" pitchFamily="34" charset="-122"/>
                <a:cs typeface="Calibri" pitchFamily="34" charset="-120"/>
              </a:rPr>
              <a:t>08</a:t>
            </a:r>
            <a:endParaRPr lang="en-US" sz="1000" dirty="0"/>
          </a:p>
        </p:txBody>
      </p:sp>
      <p:sp>
        <p:nvSpPr>
          <p:cNvPr id="8" name="Text 6"/>
          <p:cNvSpPr/>
          <p:nvPr/>
        </p:nvSpPr>
        <p:spPr>
          <a:xfrm>
            <a:off x="457200" y="822960"/>
            <a:ext cx="11247120" cy="822960"/>
          </a:xfrm>
          <a:prstGeom prst="rect">
            <a:avLst/>
          </a:prstGeom>
          <a:noFill/>
          <a:ln/>
        </p:spPr>
        <p:txBody>
          <a:bodyPr wrap="square" lIns="0" tIns="0" rIns="0" bIns="0" rtlCol="0" anchor="ctr"/>
          <a:lstStyle/>
          <a:p>
            <a:pPr indent="0" marL="0">
              <a:buNone/>
            </a:pPr>
            <a:r>
              <a:rPr lang="en-US" sz="2400" b="1" dirty="0">
                <a:solidFill>
                  <a:srgbClr val="F7F5EE"/>
                </a:solidFill>
                <a:latin typeface="Georgia" pitchFamily="34" charset="0"/>
                <a:ea typeface="Georgia" pitchFamily="34" charset="-122"/>
                <a:cs typeface="Georgia" pitchFamily="34" charset="-120"/>
              </a:rPr>
              <a:t>Slide 4: Phase 4 (Days 46–60) — Autonomous AI Event Concierge</a:t>
            </a:r>
            <a:endParaRPr lang="en-US" sz="2400" dirty="0"/>
          </a:p>
        </p:txBody>
      </p:sp>
      <p:sp>
        <p:nvSpPr>
          <p:cNvPr id="9" name="Shape 7"/>
          <p:cNvSpPr/>
          <p:nvPr/>
        </p:nvSpPr>
        <p:spPr>
          <a:xfrm>
            <a:off x="457200" y="1783080"/>
            <a:ext cx="4754880" cy="4434840"/>
          </a:xfrm>
          <a:prstGeom prst="rect">
            <a:avLst/>
          </a:prstGeom>
          <a:solidFill>
            <a:srgbClr val="18242F"/>
          </a:solidFill>
          <a:ln w="9525">
            <a:solidFill>
              <a:srgbClr val="3E4852"/>
            </a:solidFill>
            <a:prstDash val="solid"/>
          </a:ln>
        </p:spPr>
      </p:sp>
      <p:sp>
        <p:nvSpPr>
          <p:cNvPr id="10" name="Text 8"/>
          <p:cNvSpPr/>
          <p:nvPr/>
        </p:nvSpPr>
        <p:spPr>
          <a:xfrm>
            <a:off x="640080" y="1920240"/>
            <a:ext cx="4389120" cy="4206240"/>
          </a:xfrm>
          <a:prstGeom prst="rect">
            <a:avLst/>
          </a:prstGeom>
          <a:noFill/>
          <a:ln/>
        </p:spPr>
        <p:txBody>
          <a:bodyPr wrap="square" lIns="0" tIns="0" rIns="0" bIns="0" rtlCol="0" anchor="t"/>
          <a:lstStyle/>
          <a:p>
            <a:pPr indent="0" marL="0">
              <a:spcAft>
                <a:spcPts val="400"/>
              </a:spcAft>
              <a:buNone/>
            </a:pPr>
            <a:r>
              <a:rPr lang="en-US" sz="1400" b="1" dirty="0">
                <a:solidFill>
                  <a:srgbClr val="E3B33B"/>
                </a:solidFill>
                <a:latin typeface="Calibri" pitchFamily="34" charset="0"/>
                <a:ea typeface="Calibri" pitchFamily="34" charset="-122"/>
                <a:cs typeface="Calibri" pitchFamily="34" charset="-120"/>
              </a:rPr>
              <a:t>🎯 What We Want to Achieve</a:t>
            </a:r>
            <a:endParaRPr lang="en-US" sz="1400" dirty="0"/>
          </a:p>
          <a:p>
            <a:pPr indent="0" marL="0">
              <a:spcAft>
                <a:spcPts val="1400"/>
              </a:spcAft>
              <a:buNone/>
            </a:pPr>
            <a:r>
              <a:rPr lang="en-US" sz="1250" dirty="0">
                <a:solidFill>
                  <a:srgbClr val="F7F5EE"/>
                </a:solidFill>
                <a:latin typeface="Calibri" pitchFamily="34" charset="0"/>
                <a:ea typeface="Calibri" pitchFamily="34" charset="-122"/>
                <a:cs typeface="Calibri" pitchFamily="34" charset="-120"/>
              </a:rPr>
              <a:t>Integrate personalized, conversational AI agents into user profiles that proactively plan nights out and complete end-to-end event/restaurant bookings.</a:t>
            </a:r>
            <a:endParaRPr lang="en-US" sz="1400" dirty="0"/>
          </a:p>
          <a:p>
            <a:pPr indent="0" marL="0">
              <a:spcAft>
                <a:spcPts val="400"/>
              </a:spcAft>
              <a:buNone/>
            </a:pPr>
            <a:r>
              <a:rPr lang="en-US" sz="1400" b="1" dirty="0">
                <a:solidFill>
                  <a:srgbClr val="E3B33B"/>
                </a:solidFill>
                <a:latin typeface="Calibri" pitchFamily="34" charset="0"/>
                <a:ea typeface="Calibri" pitchFamily="34" charset="-122"/>
                <a:cs typeface="Calibri" pitchFamily="34" charset="-120"/>
              </a:rPr>
              <a:t>💡 Why We Are Doing It</a:t>
            </a:r>
            <a:endParaRPr lang="en-US" sz="1400" dirty="0"/>
          </a:p>
          <a:p>
            <a:pPr indent="0" marL="0">
              <a:buNone/>
            </a:pPr>
            <a:r>
              <a:rPr lang="en-US" sz="1250" dirty="0">
                <a:solidFill>
                  <a:srgbClr val="F7F5EE"/>
                </a:solidFill>
                <a:latin typeface="Calibri" pitchFamily="34" charset="0"/>
                <a:ea typeface="Calibri" pitchFamily="34" charset="-122"/>
                <a:cs typeface="Calibri" pitchFamily="34" charset="-120"/>
              </a:rPr>
              <a:t>Static map interfaces and calendar feeds are commoditized. Transitioning the user experience into an intelligent, conversational stream creates a massive competitive advantage over legacy platforms like Luma or Resident Advisor, driving up interaction frequency among our 1,000 users.</a:t>
            </a:r>
            <a:endParaRPr lang="en-US" sz="1400" dirty="0"/>
          </a:p>
        </p:txBody>
      </p:sp>
      <p:sp>
        <p:nvSpPr>
          <p:cNvPr id="11" name="Text 9"/>
          <p:cNvSpPr/>
          <p:nvPr/>
        </p:nvSpPr>
        <p:spPr>
          <a:xfrm>
            <a:off x="5486400" y="1783080"/>
            <a:ext cx="6245352" cy="4434840"/>
          </a:xfrm>
          <a:prstGeom prst="rect">
            <a:avLst/>
          </a:prstGeom>
          <a:noFill/>
          <a:ln/>
        </p:spPr>
        <p:txBody>
          <a:bodyPr wrap="square" lIns="0" tIns="0" rIns="0" bIns="0" rtlCol="0" anchor="t"/>
          <a:lstStyle/>
          <a:p>
            <a:pPr indent="0" marL="0">
              <a:spcAft>
                <a:spcPts val="600"/>
              </a:spcAft>
              <a:buNone/>
            </a:pPr>
            <a:r>
              <a:rPr lang="en-US" sz="1400" b="1" dirty="0">
                <a:solidFill>
                  <a:srgbClr val="E3B33B"/>
                </a:solidFill>
                <a:latin typeface="Calibri" pitchFamily="34" charset="0"/>
                <a:ea typeface="Calibri" pitchFamily="34" charset="-122"/>
                <a:cs typeface="Calibri" pitchFamily="34" charset="-120"/>
              </a:rPr>
              <a:t>🛠️ Descriptive Action to Take</a:t>
            </a:r>
            <a:endParaRPr lang="en-US" sz="1400" dirty="0"/>
          </a:p>
          <a:p>
            <a:pPr indent="0" marL="0">
              <a:spcAft>
                <a:spcPts val="600"/>
              </a:spcAft>
              <a:buNone/>
            </a:pPr>
            <a:r>
              <a:rPr lang="en-US" sz="1250" dirty="0">
                <a:solidFill>
                  <a:srgbClr val="F7F5EE"/>
                </a:solidFill>
                <a:latin typeface="Calibri" pitchFamily="34" charset="0"/>
                <a:ea typeface="Calibri" pitchFamily="34" charset="-122"/>
                <a:cs typeface="Calibri" pitchFamily="34" charset="-120"/>
              </a:rPr>
              <a:t>• Deploy Localized LLM Agents: Integrate custom AI planning agents into the user profile backend that analyze user preferences, calendar data, and real-time physical locations.</a:t>
            </a:r>
            <a:endParaRPr lang="en-US" sz="1400" dirty="0"/>
          </a:p>
          <a:p>
            <a:pPr indent="0" marL="0">
              <a:spcAft>
                <a:spcPts val="600"/>
              </a:spcAft>
              <a:buNone/>
            </a:pPr>
            <a:r>
              <a:rPr lang="en-US" sz="1250" dirty="0">
                <a:solidFill>
                  <a:srgbClr val="F7F5EE"/>
                </a:solidFill>
                <a:latin typeface="Calibri" pitchFamily="34" charset="0"/>
                <a:ea typeface="Calibri" pitchFamily="34" charset="-122"/>
                <a:cs typeface="Calibri" pitchFamily="34" charset="-120"/>
              </a:rPr>
              <a:t>• Activate Conversational Booking: Enable full natural-language ticket purchasing and restaurant reservations. Users text the chat interface ("Find an underground rave or a highly-rated dinner spot for my group tonight under $30"), and the agent automatically parses the map database, confirms space, and processes payment.</a:t>
            </a:r>
            <a:endParaRPr lang="en-US" sz="1400" dirty="0"/>
          </a:p>
          <a:p>
            <a:pPr indent="0" marL="0">
              <a:spcAft>
                <a:spcPts val="600"/>
              </a:spcAft>
              <a:buNone/>
            </a:pPr>
            <a:r>
              <a:rPr lang="en-US" sz="1250" dirty="0">
                <a:solidFill>
                  <a:srgbClr val="F7F5EE"/>
                </a:solidFill>
                <a:latin typeface="Calibri" pitchFamily="34" charset="0"/>
                <a:ea typeface="Calibri" pitchFamily="34" charset="-122"/>
                <a:cs typeface="Calibri" pitchFamily="34" charset="-120"/>
              </a:rPr>
              <a:t>• Launch Tenant Dashboards: Open a basic predictive analytics dashboard for our 50 verified restaurant and event tenants, allowing them to optimize their drink inventory, table layouts, and staff schedules based on incoming AI-agent booking flows.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1A24"/>
        </a:solidFill>
      </p:bgPr>
    </p:bg>
    <p:spTree>
      <p:nvGrpSpPr>
        <p:cNvPr id="1" name=""/>
        <p:cNvGrpSpPr/>
        <p:nvPr/>
      </p:nvGrpSpPr>
      <p:grpSpPr>
        <a:xfrm>
          <a:off x="0" y="0"/>
          <a:ext cx="0" cy="0"/>
          <a:chOff x="0" y="0"/>
          <a:chExt cx="0" cy="0"/>
        </a:xfrm>
      </p:grpSpPr>
      <p:sp>
        <p:nvSpPr>
          <p:cNvPr id="2" name="Shape 0"/>
          <p:cNvSpPr/>
          <p:nvPr/>
        </p:nvSpPr>
        <p:spPr>
          <a:xfrm>
            <a:off x="457200" y="320040"/>
            <a:ext cx="292608" cy="292608"/>
          </a:xfrm>
          <a:prstGeom prst="rect">
            <a:avLst/>
          </a:prstGeom>
          <a:solidFill>
            <a:srgbClr val="E3B33B"/>
          </a:solidFill>
          <a:ln/>
        </p:spPr>
      </p:sp>
      <p:sp>
        <p:nvSpPr>
          <p:cNvPr id="3" name="Text 1"/>
          <p:cNvSpPr/>
          <p:nvPr/>
        </p:nvSpPr>
        <p:spPr>
          <a:xfrm>
            <a:off x="457200" y="320040"/>
            <a:ext cx="292608" cy="292608"/>
          </a:xfrm>
          <a:prstGeom prst="rect">
            <a:avLst/>
          </a:prstGeom>
          <a:noFill/>
          <a:ln/>
        </p:spPr>
        <p:txBody>
          <a:bodyPr wrap="square" lIns="0" tIns="0" rIns="0" bIns="0" rtlCol="0" anchor="ctr"/>
          <a:lstStyle/>
          <a:p>
            <a:pPr algn="ctr" indent="0" marL="0">
              <a:buNone/>
            </a:pPr>
            <a:r>
              <a:rPr lang="en-US" sz="1300" b="1" dirty="0">
                <a:solidFill>
                  <a:srgbClr val="101A24"/>
                </a:solidFill>
                <a:latin typeface="Georgia" pitchFamily="34" charset="0"/>
                <a:ea typeface="Georgia" pitchFamily="34" charset="-122"/>
                <a:cs typeface="Georgia" pitchFamily="34" charset="-120"/>
              </a:rPr>
              <a:t>L</a:t>
            </a:r>
            <a:endParaRPr lang="en-US" sz="1300" dirty="0"/>
          </a:p>
        </p:txBody>
      </p:sp>
      <p:sp>
        <p:nvSpPr>
          <p:cNvPr id="4" name="Text 2"/>
          <p:cNvSpPr/>
          <p:nvPr/>
        </p:nvSpPr>
        <p:spPr>
          <a:xfrm>
            <a:off x="868680" y="320040"/>
            <a:ext cx="5486400" cy="292608"/>
          </a:xfrm>
          <a:prstGeom prst="rect">
            <a:avLst/>
          </a:prstGeom>
          <a:noFill/>
          <a:ln/>
        </p:spPr>
        <p:txBody>
          <a:bodyPr wrap="square" lIns="0" tIns="0" rIns="0" bIns="0" rtlCol="0" anchor="ctr"/>
          <a:lstStyle/>
          <a:p>
            <a:pPr indent="0" marL="0">
              <a:buNone/>
            </a:pPr>
            <a:r>
              <a:rPr lang="en-US" sz="1100" spc="200" kern="0" dirty="0">
                <a:solidFill>
                  <a:srgbClr val="A3AAB3"/>
                </a:solidFill>
                <a:latin typeface="Calibri" pitchFamily="34" charset="0"/>
                <a:ea typeface="Calibri" pitchFamily="34" charset="-122"/>
                <a:cs typeface="Calibri" pitchFamily="34" charset="-120"/>
              </a:rPr>
              <a:t>LIIVRR / STRATEGIC EXECUTION</a:t>
            </a:r>
            <a:endParaRPr lang="en-US" sz="1100" dirty="0"/>
          </a:p>
        </p:txBody>
      </p:sp>
      <p:sp>
        <p:nvSpPr>
          <p:cNvPr id="5" name="Shape 3"/>
          <p:cNvSpPr/>
          <p:nvPr/>
        </p:nvSpPr>
        <p:spPr>
          <a:xfrm>
            <a:off x="457200" y="6400800"/>
            <a:ext cx="11274552" cy="0"/>
          </a:xfrm>
          <a:prstGeom prst="line">
            <a:avLst/>
          </a:prstGeom>
          <a:noFill/>
          <a:ln w="9525">
            <a:solidFill>
              <a:srgbClr val="3E4852"/>
            </a:solidFill>
            <a:prstDash val="solid"/>
          </a:ln>
        </p:spPr>
      </p:sp>
      <p:sp>
        <p:nvSpPr>
          <p:cNvPr id="6" name="Text 4"/>
          <p:cNvSpPr/>
          <p:nvPr/>
        </p:nvSpPr>
        <p:spPr>
          <a:xfrm>
            <a:off x="457200" y="6446520"/>
            <a:ext cx="5486400" cy="274320"/>
          </a:xfrm>
          <a:prstGeom prst="rect">
            <a:avLst/>
          </a:prstGeom>
          <a:noFill/>
          <a:ln/>
        </p:spPr>
        <p:txBody>
          <a:bodyPr wrap="square" lIns="0" tIns="0" rIns="0" bIns="0" rtlCol="0" anchor="ctr"/>
          <a:lstStyle/>
          <a:p>
            <a:pPr indent="0" marL="0">
              <a:buNone/>
            </a:pPr>
            <a:r>
              <a:rPr lang="en-US" sz="1000" spc="200" kern="0" dirty="0">
                <a:solidFill>
                  <a:srgbClr val="A3AAB3"/>
                </a:solidFill>
                <a:latin typeface="Calibri" pitchFamily="34" charset="0"/>
                <a:ea typeface="Calibri" pitchFamily="34" charset="-122"/>
                <a:cs typeface="Calibri" pitchFamily="34" charset="-120"/>
              </a:rPr>
              <a:t>COO / BD OPERATIONAL ROADMAP</a:t>
            </a:r>
            <a:endParaRPr lang="en-US" sz="1000" dirty="0"/>
          </a:p>
        </p:txBody>
      </p:sp>
      <p:sp>
        <p:nvSpPr>
          <p:cNvPr id="7" name="Text 5"/>
          <p:cNvSpPr/>
          <p:nvPr/>
        </p:nvSpPr>
        <p:spPr>
          <a:xfrm>
            <a:off x="10817352" y="6446520"/>
            <a:ext cx="914400" cy="274320"/>
          </a:xfrm>
          <a:prstGeom prst="rect">
            <a:avLst/>
          </a:prstGeom>
          <a:noFill/>
          <a:ln/>
        </p:spPr>
        <p:txBody>
          <a:bodyPr wrap="square" lIns="0" tIns="0" rIns="0" bIns="0" rtlCol="0" anchor="ctr"/>
          <a:lstStyle/>
          <a:p>
            <a:pPr algn="r" indent="0" marL="0">
              <a:buNone/>
            </a:pPr>
            <a:r>
              <a:rPr lang="en-US" sz="1000" dirty="0">
                <a:solidFill>
                  <a:srgbClr val="E3B33B"/>
                </a:solidFill>
                <a:latin typeface="Calibri" pitchFamily="34" charset="0"/>
                <a:ea typeface="Calibri" pitchFamily="34" charset="-122"/>
                <a:cs typeface="Calibri" pitchFamily="34" charset="-120"/>
              </a:rPr>
              <a:t>09</a:t>
            </a:r>
            <a:endParaRPr lang="en-US" sz="1000" dirty="0"/>
          </a:p>
        </p:txBody>
      </p:sp>
      <p:sp>
        <p:nvSpPr>
          <p:cNvPr id="8" name="Text 6"/>
          <p:cNvSpPr/>
          <p:nvPr/>
        </p:nvSpPr>
        <p:spPr>
          <a:xfrm>
            <a:off x="457200" y="822960"/>
            <a:ext cx="11247120" cy="822960"/>
          </a:xfrm>
          <a:prstGeom prst="rect">
            <a:avLst/>
          </a:prstGeom>
          <a:noFill/>
          <a:ln/>
        </p:spPr>
        <p:txBody>
          <a:bodyPr wrap="square" lIns="0" tIns="0" rIns="0" bIns="0" rtlCol="0" anchor="ctr"/>
          <a:lstStyle/>
          <a:p>
            <a:pPr indent="0" marL="0">
              <a:buNone/>
            </a:pPr>
            <a:r>
              <a:rPr lang="en-US" sz="2400" b="1" dirty="0">
                <a:solidFill>
                  <a:srgbClr val="F7F5EE"/>
                </a:solidFill>
                <a:latin typeface="Georgia" pitchFamily="34" charset="0"/>
                <a:ea typeface="Georgia" pitchFamily="34" charset="-122"/>
                <a:cs typeface="Georgia" pitchFamily="34" charset="-120"/>
              </a:rPr>
              <a:t>Slide 5: Phase 5 (December 2026+) — Native Monetization &amp; Flywheel Optimization</a:t>
            </a:r>
            <a:endParaRPr lang="en-US" sz="2400" dirty="0"/>
          </a:p>
        </p:txBody>
      </p:sp>
      <p:sp>
        <p:nvSpPr>
          <p:cNvPr id="9" name="Shape 7"/>
          <p:cNvSpPr/>
          <p:nvPr/>
        </p:nvSpPr>
        <p:spPr>
          <a:xfrm>
            <a:off x="457200" y="1783080"/>
            <a:ext cx="4754880" cy="4434840"/>
          </a:xfrm>
          <a:prstGeom prst="rect">
            <a:avLst/>
          </a:prstGeom>
          <a:solidFill>
            <a:srgbClr val="18242F"/>
          </a:solidFill>
          <a:ln w="9525">
            <a:solidFill>
              <a:srgbClr val="3E4852"/>
            </a:solidFill>
            <a:prstDash val="solid"/>
          </a:ln>
        </p:spPr>
      </p:sp>
      <p:sp>
        <p:nvSpPr>
          <p:cNvPr id="10" name="Text 8"/>
          <p:cNvSpPr/>
          <p:nvPr/>
        </p:nvSpPr>
        <p:spPr>
          <a:xfrm>
            <a:off x="640080" y="1920240"/>
            <a:ext cx="4389120" cy="4206240"/>
          </a:xfrm>
          <a:prstGeom prst="rect">
            <a:avLst/>
          </a:prstGeom>
          <a:noFill/>
          <a:ln/>
        </p:spPr>
        <p:txBody>
          <a:bodyPr wrap="square" lIns="0" tIns="0" rIns="0" bIns="0" rtlCol="0" anchor="t"/>
          <a:lstStyle/>
          <a:p>
            <a:pPr indent="0" marL="0">
              <a:spcAft>
                <a:spcPts val="400"/>
              </a:spcAft>
              <a:buNone/>
            </a:pPr>
            <a:r>
              <a:rPr lang="en-US" sz="1400" b="1" dirty="0">
                <a:solidFill>
                  <a:srgbClr val="E3B33B"/>
                </a:solidFill>
                <a:latin typeface="Calibri" pitchFamily="34" charset="0"/>
                <a:ea typeface="Calibri" pitchFamily="34" charset="-122"/>
                <a:cs typeface="Calibri" pitchFamily="34" charset="-120"/>
              </a:rPr>
              <a:t>🎯 What We Want to Achieve</a:t>
            </a:r>
            <a:endParaRPr lang="en-US" sz="1400" dirty="0"/>
          </a:p>
          <a:p>
            <a:pPr indent="0" marL="0">
              <a:spcAft>
                <a:spcPts val="1400"/>
              </a:spcAft>
              <a:buNone/>
            </a:pPr>
            <a:r>
              <a:rPr lang="en-US" sz="1250" dirty="0">
                <a:solidFill>
                  <a:srgbClr val="F7F5EE"/>
                </a:solidFill>
                <a:latin typeface="Calibri" pitchFamily="34" charset="0"/>
                <a:ea typeface="Calibri" pitchFamily="34" charset="-122"/>
                <a:cs typeface="Calibri" pitchFamily="34" charset="-120"/>
              </a:rPr>
              <a:t>Turn on high-margin, scalable platform revenue streams across both consumer-facing and B2B layers once the 1,000 user and 50 tenant milestones are fully cemented.</a:t>
            </a:r>
            <a:endParaRPr lang="en-US" sz="1400" dirty="0"/>
          </a:p>
          <a:p>
            <a:pPr indent="0" marL="0">
              <a:spcAft>
                <a:spcPts val="400"/>
              </a:spcAft>
              <a:buNone/>
            </a:pPr>
            <a:r>
              <a:rPr lang="en-US" sz="1400" b="1" dirty="0">
                <a:solidFill>
                  <a:srgbClr val="E3B33B"/>
                </a:solidFill>
                <a:latin typeface="Calibri" pitchFamily="34" charset="0"/>
                <a:ea typeface="Calibri" pitchFamily="34" charset="-122"/>
                <a:cs typeface="Calibri" pitchFamily="34" charset="-120"/>
              </a:rPr>
              <a:t>💡 Why We Are Doing It</a:t>
            </a:r>
            <a:endParaRPr lang="en-US" sz="1400" dirty="0"/>
          </a:p>
          <a:p>
            <a:pPr indent="0" marL="0">
              <a:buNone/>
            </a:pPr>
            <a:r>
              <a:rPr lang="en-US" sz="1250" dirty="0">
                <a:solidFill>
                  <a:srgbClr val="F7F5EE"/>
                </a:solidFill>
                <a:latin typeface="Calibri" pitchFamily="34" charset="0"/>
                <a:ea typeface="Calibri" pitchFamily="34" charset="-122"/>
                <a:cs typeface="Calibri" pitchFamily="34" charset="-120"/>
              </a:rPr>
              <a:t>To move away from relying on grants and transition into a highly profitable, self-sustaining ecosystem where user activity directly drives consistent revenue and scales our tenant network further into 2027.</a:t>
            </a:r>
            <a:endParaRPr lang="en-US" sz="1400" dirty="0"/>
          </a:p>
        </p:txBody>
      </p:sp>
      <p:sp>
        <p:nvSpPr>
          <p:cNvPr id="11" name="Text 9"/>
          <p:cNvSpPr/>
          <p:nvPr/>
        </p:nvSpPr>
        <p:spPr>
          <a:xfrm>
            <a:off x="5486400" y="1783080"/>
            <a:ext cx="6245352" cy="4434840"/>
          </a:xfrm>
          <a:prstGeom prst="rect">
            <a:avLst/>
          </a:prstGeom>
          <a:noFill/>
          <a:ln/>
        </p:spPr>
        <p:txBody>
          <a:bodyPr wrap="square" lIns="0" tIns="0" rIns="0" bIns="0" rtlCol="0" anchor="t"/>
          <a:lstStyle/>
          <a:p>
            <a:pPr indent="0" marL="0">
              <a:spcAft>
                <a:spcPts val="600"/>
              </a:spcAft>
              <a:buNone/>
            </a:pPr>
            <a:r>
              <a:rPr lang="en-US" sz="1400" b="1" dirty="0">
                <a:solidFill>
                  <a:srgbClr val="E3B33B"/>
                </a:solidFill>
                <a:latin typeface="Calibri" pitchFamily="34" charset="0"/>
                <a:ea typeface="Calibri" pitchFamily="34" charset="-122"/>
                <a:cs typeface="Calibri" pitchFamily="34" charset="-120"/>
              </a:rPr>
              <a:t>🛠️ Descriptive Action to Take</a:t>
            </a:r>
            <a:endParaRPr lang="en-US" sz="1400" dirty="0"/>
          </a:p>
          <a:p>
            <a:pPr indent="0" marL="0">
              <a:spcAft>
                <a:spcPts val="600"/>
              </a:spcAft>
              <a:buNone/>
            </a:pPr>
            <a:r>
              <a:rPr lang="en-US" sz="1250" dirty="0">
                <a:solidFill>
                  <a:srgbClr val="F7F5EE"/>
                </a:solidFill>
                <a:latin typeface="Calibri" pitchFamily="34" charset="0"/>
                <a:ea typeface="Calibri" pitchFamily="34" charset="-122"/>
                <a:cs typeface="Calibri" pitchFamily="34" charset="-120"/>
              </a:rPr>
              <a:t>• Program Conversational Ad Streams: Deploy hyper-local ad placements directly within the AI concierge chat interface (e.g., if a user tells their agent they are going to one of our 50 partner restaurants, local rideshare apps bid in real-time to offer a ride coupon).</a:t>
            </a:r>
            <a:endParaRPr lang="en-US" sz="1400" dirty="0"/>
          </a:p>
          <a:p>
            <a:pPr indent="0" marL="0">
              <a:spcAft>
                <a:spcPts val="600"/>
              </a:spcAft>
              <a:buNone/>
            </a:pPr>
            <a:r>
              <a:rPr lang="en-US" sz="1250" dirty="0">
                <a:solidFill>
                  <a:srgbClr val="F7F5EE"/>
                </a:solidFill>
                <a:latin typeface="Calibri" pitchFamily="34" charset="0"/>
                <a:ea typeface="Calibri" pitchFamily="34" charset="-122"/>
                <a:cs typeface="Calibri" pitchFamily="34" charset="-120"/>
              </a:rPr>
              <a:t>• Sell Premium Map Real-Estate: Allow our 50 verified tenants to purchase sponsored pin-drops and real-time live map highlights to drive foot traffic during peak hours.</a:t>
            </a:r>
            <a:endParaRPr lang="en-US" sz="1400" dirty="0"/>
          </a:p>
          <a:p>
            <a:pPr indent="0" marL="0">
              <a:spcAft>
                <a:spcPts val="600"/>
              </a:spcAft>
              <a:buNone/>
            </a:pPr>
            <a:r>
              <a:rPr lang="en-US" sz="1250" dirty="0">
                <a:solidFill>
                  <a:srgbClr val="F7F5EE"/>
                </a:solidFill>
                <a:latin typeface="Calibri" pitchFamily="34" charset="0"/>
                <a:ea typeface="Calibri" pitchFamily="34" charset="-122"/>
                <a:cs typeface="Calibri" pitchFamily="34" charset="-120"/>
              </a:rPr>
              <a:t>• Enforce Platform Protocol Fees: Programmatically collect a minor platform processing fee on all primary ticket sales, restaurant booking deposits, and secure, peer-to-peer secondary market ticket transfers.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Liivrr Strategic Execution Roadmap</dc:title>
  <dc:subject>PptxGenJS Presentation</dc:subject>
  <dc:creator>PptxGenJS</dc:creator>
  <cp:lastModifiedBy>PptxGenJS</cp:lastModifiedBy>
  <cp:revision>1</cp:revision>
  <dcterms:created xsi:type="dcterms:W3CDTF">2026-10-12T00:47:14Z</dcterms:created>
  <dcterms:modified xsi:type="dcterms:W3CDTF">2026-10-12T00:47:14Z</dcterms:modified>
</cp:coreProperties>
</file>